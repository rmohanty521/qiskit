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 (simulator)</c:v>
                </c:pt>
              </c:strCache>
            </c:strRef>
          </c:tx>
          <c:spPr>
            <a:ln w="31750">
              <a:solidFill>
                <a:srgbClr val="0E9488"/>
              </a:solidFill>
            </a:ln>
          </c:spPr>
          <c:marker>
            <c:symbol val="circle"/>
            <c:spPr>
              <a:solidFill>
                <a:srgbClr val="0E9488"/>
              </a:solidFill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0.010956797062765046</c:v>
                </c:pt>
                <c:pt idx="1">
                  <c:v>0.02738264033988491</c:v>
                </c:pt>
                <c:pt idx="2">
                  <c:v>0.047695289998323655</c:v>
                </c:pt>
                <c:pt idx="3">
                  <c:v>0.08809603625645926</c:v>
                </c:pt>
                <c:pt idx="4">
                  <c:v>0.14184200152100823</c:v>
                </c:pt>
                <c:pt idx="5">
                  <c:v>0.2113435942587491</c:v>
                </c:pt>
                <c:pt idx="6">
                  <c:v>0.32074272777074336</c:v>
                </c:pt>
                <c:pt idx="7">
                  <c:v>0.41789390003074395</c:v>
                </c:pt>
                <c:pt idx="8">
                  <c:v>0.5014502142448615</c:v>
                </c:pt>
                <c:pt idx="9">
                  <c:v>0.579284222454486</c:v>
                </c:pt>
                <c:pt idx="10">
                  <c:v>0.6595587835969536</c:v>
                </c:pt>
                <c:pt idx="11">
                  <c:v>0.7288901699283823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575"/>
                    </a:solidFill>
                  </a:rPr>
                  <a:t>layers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575"/>
                    </a:solidFill>
                  </a:rPr>
                  <a:t>P(correct tower)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B657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QAOA p = 10</c:v>
                </c:pt>
              </c:strCache>
            </c:strRef>
          </c:tx>
          <c:spPr>
            <a:ln w="31750">
              <a:solidFill>
                <a:srgbClr val="0E9488"/>
              </a:solidFill>
            </a:ln>
          </c:spPr>
          <c:marker>
            <c:symbol val="circle"/>
            <c:spPr>
              <a:solidFill>
                <a:srgbClr val="0E9488"/>
              </a:solidFill>
            </c:spPr>
          </c:marker>
          <c:cat>
            <c:strRef>
              <c:f>Sheet1!$A$2:$A$6</c:f>
              <c:strCach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0.5787952599097943</c:v>
                </c:pt>
                <c:pt idx="1">
                  <c:v>0.09108621479612343</c:v>
                </c:pt>
                <c:pt idx="2">
                  <c:v>0.09456350094970882</c:v>
                </c:pt>
                <c:pt idx="3">
                  <c:v>0.03484286082799597</c:v>
                </c:pt>
                <c:pt idx="4">
                  <c:v>0.042934894629718424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legal guess</c:v>
                </c:pt>
              </c:strCache>
            </c:strRef>
          </c:tx>
          <c:spPr>
            <a:ln w="31750">
              <a:solidFill>
                <a:srgbClr val="5B6575"/>
              </a:solidFill>
            </a:ln>
          </c:spPr>
          <c:marker>
            <c:symbol val="circle"/>
            <c:spPr>
              <a:solidFill>
                <a:srgbClr val="5B6575"/>
              </a:solidFill>
            </c:spPr>
          </c:marker>
          <c:cat>
            <c:strRef>
              <c:f>Sheet1!$A$2:$A$6</c:f>
              <c:strCach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0.0015432098765432098</c:v>
                </c:pt>
                <c:pt idx="1">
                  <c:v>0.000257201646090535</c:v>
                </c:pt>
                <c:pt idx="2">
                  <c:v>4.286694101508916e-05</c:v>
                </c:pt>
                <c:pt idx="3">
                  <c:v>7.144490169181527e-06</c:v>
                </c:pt>
                <c:pt idx="4">
                  <c:v>1.1907483615302546e-06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575"/>
                    </a:solidFill>
                  </a:rPr>
                  <a:t>N cubes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crossAx val="2140495176"/>
        <c:crosses val="min"/>
        <c:auto val="1"/>
        <c:lblAlgn val="ctr"/>
        <c:lblOffset val="100"/>
        <c:noMultiLvlLbl val="0"/>
      </c:catAx>
      <c:valAx>
        <c:axId val="2140495176"/>
        <c:scaling>
          <c:logBase val="1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575"/>
                    </a:solidFill>
                  </a:rPr>
                  <a:t>P(correct tower), log scale</a:t>
                </a:r>
              </a:p>
            </c:rich>
          </c:tx>
          <c:layout/>
          <c:overlay val="0"/>
        </c:title>
        <c:numFmt formatCode="[&gt;=0.01]0%;[&gt;=0.00001]0.0##%;0.000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5B657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each puzzle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8"/>
            <c:spPr>
              <a:solidFill>
                <a:srgbClr val="F0B070"/>
              </a:solidFill>
              <a:ln>
                <a:noFill/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9</c:v>
                </c:pt>
                <c:pt idx="1">
                  <c:v>24</c:v>
                </c:pt>
                <c:pt idx="2">
                  <c:v>26</c:v>
                </c:pt>
                <c:pt idx="3">
                  <c:v>11</c:v>
                </c:pt>
                <c:pt idx="4">
                  <c:v>19</c:v>
                </c:pt>
                <c:pt idx="5">
                  <c:v>25</c:v>
                </c:pt>
                <c:pt idx="6">
                  <c:v>21</c:v>
                </c:pt>
                <c:pt idx="7">
                  <c:v>33</c:v>
                </c:pt>
                <c:pt idx="8">
                  <c:v>31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median</c:v>
                </c:pt>
              </c:strCache>
            </c:strRef>
          </c:tx>
          <c:spPr>
            <a:ln w="38100">
              <a:solidFill>
                <a:srgbClr val="5FD4C8"/>
              </a:solidFill>
            </a:ln>
          </c:spPr>
          <c:marker>
            <c:symbol val="diamond"/>
            <c:size val="9"/>
            <c:spPr>
              <a:solidFill>
                <a:srgbClr val="5FD4C8"/>
              </a:solidFill>
            </c:spPr>
          </c:marker>
          <c:xVal>
            <c:numRef>
              <c:f>Sheet1!$A$13:$A$17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</c:numCache>
            </c:numRef>
          </c:xVal>
          <c:yVal>
            <c:numRef>
              <c:f>Sheet1!$B$13:$B$17</c:f>
              <c:numCache>
                <c:formatCode>General</c:formatCode>
                <c:ptCount val="5"/>
                <c:pt idx="0">
                  <c:v>9</c:v>
                </c:pt>
                <c:pt idx="1">
                  <c:v>24</c:v>
                </c:pt>
                <c:pt idx="2">
                  <c:v>21</c:v>
                </c:pt>
                <c:pt idx="3">
                  <c:v>33</c:v>
                </c:pt>
                <c:pt idx="4">
                  <c:v>31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3.0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C9D3DA"/>
                    </a:solidFill>
                  </a:rPr>
                  <a:t>N cubes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4A5A68"/>
            </a:solidFill>
          </a:ln>
        </c:spPr>
        <c:txPr>
          <a:bodyPr/>
          <a:lstStyle/>
          <a:p>
            <a:pPr>
              <a:defRPr>
                <a:solidFill>
                  <a:srgbClr val="C9D3DA"/>
                </a:solidFill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40.0"/>
          <c:min val="0.0"/>
        </c:scaling>
        <c:delete val="0"/>
        <c:axPos val="l"/>
        <c:majorGridlines>
          <c:spPr>
            <a:ln>
              <a:solidFill>
                <a:srgbClr val="2E3D4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C9D3DA"/>
                    </a:solidFill>
                  </a:rPr>
                  <a:t>layers 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4A5A68"/>
            </a:solidFill>
          </a:ln>
        </c:spPr>
        <c:txPr>
          <a:bodyPr/>
          <a:lstStyle/>
          <a:p>
            <a:pPr>
              <a:defRPr>
                <a:solidFill>
                  <a:srgbClr val="C9D3DA"/>
                </a:solidFill>
              </a:defRPr>
            </a:pPr>
          </a:p>
        </c:txPr>
        <c:crossAx val="-2128940872"/>
        <c:crosses val="autoZero"/>
        <c:crossBetween val="midCat"/>
        <c:majorUnit val="10.0"/>
      </c:valAx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C9D3D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C9D3D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1: introduce the team and the one-line story: 3 qubits per cube, a mixer that only allows legal moves, and classical checks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1: why it's hard by hand, why it's easy for a computer at N=4, and how the graph view shrinks it to 6 choices per cube.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1: bit order — qubit 0 is the rightmost character in a Qiskit key; cube 1 is the last 3 characters. We tested the decoder on the known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2: the mixer is the 'complete graph' mixer over 6 codes. Tuning: layer by layer, each depth starts from the previous angles stretched (INTERP).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2: this is the slide for the tie-break criterion. Say how each check would catch a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2: the line is the exact simulation; the table is shots. Point out the baseline and that no shot was an illegal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3: angles for N=5-8 were tuned offline with the same function and reloaded; the notebook recomputes their success. N=7,8 local shots come from the exact distribution unless run on SV1.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3: the chart answers 'how many layers to keep success at 50%?'. Then the fair comparison: classical wins clearly at these sizes. Close with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828800"/>
            <a:ext cx="384048" cy="38404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249424"/>
            <a:ext cx="384048" cy="384048"/>
          </a:xfrm>
          <a:prstGeom prst="roundRect">
            <a:avLst/>
          </a:prstGeom>
          <a:solidFill>
            <a:srgbClr val="2FA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670048"/>
            <a:ext cx="384048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3090672"/>
            <a:ext cx="384048" cy="384048"/>
          </a:xfrm>
          <a:prstGeom prst="round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691640"/>
            <a:ext cx="96012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Instant Insanity on 12 qubits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743200"/>
            <a:ext cx="96012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B8C4CC"/>
                </a:solidFill>
                <a:latin typeface="Calibri"/>
              </a:rPr>
              <a:t>A compact encoding and constrained QAOA, checked against brute force at every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206240"/>
            <a:ext cx="96012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B8C4CC"/>
                </a:solidFill>
                <a:latin typeface="Calibri"/>
              </a:rPr>
              <a:t>Team: Zain Irfan, Mark Gebuza, Rithwik Mohanty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B8C4CC"/>
                </a:solidFill>
                <a:latin typeface="Calibri"/>
              </a:rPr>
              <a:t>Qiskit Fall Fest CT 2026 · qBraid challenge · warm-up, core and bonus (N = 4 to 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" cy="15544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03504"/>
            <a:ext cx="155448" cy="155448"/>
          </a:xfrm>
          <a:prstGeom prst="roundRect">
            <a:avLst/>
          </a:prstGeom>
          <a:solidFill>
            <a:srgbClr val="2FA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795528"/>
            <a:ext cx="155448" cy="1554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987552"/>
            <a:ext cx="155448" cy="155448"/>
          </a:xfrm>
          <a:prstGeom prst="round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47472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3"/>
                </a:solidFill>
                <a:latin typeface="Cambria"/>
              </a:rPr>
              <a:t>The puzzle: 8 good towers out of 331,776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05156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575"/>
                </a:solidFill>
                <a:latin typeface="Calibri"/>
              </a:rPr>
              <a:t>Stack 4 cubes so every side shows red, green, blue and yellow exactly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7315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575"/>
                </a:solidFill>
                <a:latin typeface="Calibri"/>
              </a:rPr>
              <a:t>The four cubes, unfolded</a:t>
            </a:r>
          </a:p>
        </p:txBody>
      </p:sp>
      <p:pic>
        <p:nvPicPr>
          <p:cNvPr id="9" name="Picture 8" descr="fig_n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315200" cy="15232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69680" y="1508760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575"/>
                </a:solidFill>
                <a:latin typeface="Calibri"/>
              </a:rPr>
              <a:t>The one solved tower</a:t>
            </a:r>
          </a:p>
        </p:txBody>
      </p:sp>
      <p:pic>
        <p:nvPicPr>
          <p:cNvPr id="11" name="Picture 10" descr="fig_t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828800"/>
            <a:ext cx="1914290" cy="18745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977639"/>
            <a:ext cx="27432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0E9488"/>
                </a:solidFill>
                <a:latin typeface="Cambria"/>
              </a:rPr>
              <a:t>331,776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79"/>
            <a:ext cx="27432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575"/>
                </a:solidFill>
                <a:latin typeface="Calibri"/>
              </a:rPr>
              <a:t>ways to stack 4 cubes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977639"/>
            <a:ext cx="210312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2772A"/>
                </a:solidFill>
                <a:latin typeface="Cambria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754879"/>
            <a:ext cx="210312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575"/>
                </a:solidFill>
                <a:latin typeface="Calibri"/>
              </a:rPr>
              <a:t>solved: one tower, 8 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977639"/>
            <a:ext cx="210312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5B6575"/>
                </a:solidFill>
                <a:latin typeface="Cambria"/>
              </a:rPr>
              <a:t>0.14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754879"/>
            <a:ext cx="210312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575"/>
                </a:solidFill>
                <a:latin typeface="Calibri"/>
              </a:rPr>
              <a:t>classical brute force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69494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B6575"/>
                </a:solidFill>
                <a:latin typeface="Calibri"/>
              </a:rPr>
              <a:t>The general N-cube problem is NP-complete. </a:t>
            </a:r>
            <a:r>
              <a:rPr sz="1400" b="0" i="1">
                <a:solidFill>
                  <a:srgbClr val="5B6575"/>
                </a:solidFill>
                <a:latin typeface="Calibri"/>
              </a:rPr>
              <a:t>We do not claim a speedup.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840480"/>
            <a:ext cx="38404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575"/>
                </a:solidFill>
                <a:latin typeface="Calibri"/>
              </a:rPr>
              <a:t>Graph view: colours are dots, opposite pairs are lines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420624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ig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97680"/>
            <a:ext cx="28854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" cy="15544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03504"/>
            <a:ext cx="155448" cy="155448"/>
          </a:xfrm>
          <a:prstGeom prst="roundRect">
            <a:avLst/>
          </a:prstGeom>
          <a:solidFill>
            <a:srgbClr val="2FA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795528"/>
            <a:ext cx="155448" cy="1554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987552"/>
            <a:ext cx="155448" cy="155448"/>
          </a:xfrm>
          <a:prstGeom prst="round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47472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3"/>
                </a:solidFill>
                <a:latin typeface="Cambria"/>
              </a:rPr>
              <a:t>The trick: 6 choices per cube fit in 3 qubits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05156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575"/>
                </a:solidFill>
                <a:latin typeface="Calibri"/>
              </a:rPr>
              <a:t>Colours are dots, opposite-face pairs are lines. The answer's picks touch every colour exactly twice</a:t>
            </a:r>
          </a:p>
        </p:txBody>
      </p:sp>
      <p:pic>
        <p:nvPicPr>
          <p:cNvPr id="8" name="Picture 7" descr="fig_graph_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2881445" cy="2331720"/>
          </a:xfrm>
          <a:prstGeom prst="rect">
            <a:avLst/>
          </a:prstGeom>
        </p:spPr>
      </p:pic>
      <p:pic>
        <p:nvPicPr>
          <p:cNvPr id="9" name="Picture 8" descr="fig_graph_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23360"/>
            <a:ext cx="2881445" cy="233172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43400" y="1783080"/>
          <a:ext cx="35661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685800"/>
                <a:gridCol w="1143000"/>
                <a:gridCol w="1143000"/>
              </a:tblGrid>
              <a:tr h="4800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bits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front/back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left/right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000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010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6, 7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11x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unused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never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0" y="1783080"/>
            <a:ext cx="3474720" cy="4754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B2433"/>
                </a:solidFill>
                <a:latin typeface="Calibri"/>
              </a:rPr>
              <a:t>Front + back together 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show every colour twice, so pick one line per cube that touches each dot exactly twice (top left). Same for left + right (bottom left).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B2433"/>
                </a:solidFill>
                <a:latin typeface="Calibri"/>
              </a:rPr>
              <a:t>Which way round 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each pair faces can be fixed afterwards.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B2433"/>
                </a:solidFill>
                <a:latin typeface="Calibri"/>
              </a:rPr>
              <a:t>So a cube only picks </a:t>
            </a:r>
            <a:r>
              <a:rPr sz="1400" b="1" i="0">
                <a:solidFill>
                  <a:srgbClr val="1B2433"/>
                </a:solidFill>
                <a:latin typeface="Calibri"/>
              </a:rPr>
              <a:t>2 different pairs: 3 × 2 = 6 choices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, stored as a code 0 to 5 in 3 qubits.</a:t>
            </a:r>
          </a:p>
          <a:p>
            <a:pPr algn="l">
              <a:spcAft>
                <a:spcPts val="900"/>
              </a:spcAft>
            </a:pPr>
            <a:r>
              <a:rPr sz="1900" b="1" i="0">
                <a:solidFill>
                  <a:srgbClr val="0E9488"/>
                </a:solidFill>
                <a:latin typeface="Cambria"/>
              </a:rPr>
              <a:t>Cost  C = Σ (d − 2)²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B2433"/>
                </a:solidFill>
                <a:latin typeface="Calibri"/>
              </a:rPr>
              <a:t>d = how many picked lines touch a colour. C = 0 exactly for a solved tower. 164 Z terms at N = 4.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1B2433"/>
                </a:solidFill>
                <a:latin typeface="Calibri"/>
              </a:rPr>
              <a:t>Codes 6 and 7 need no penalty: the circuit never creates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" cy="15544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03504"/>
            <a:ext cx="155448" cy="155448"/>
          </a:xfrm>
          <a:prstGeom prst="roundRect">
            <a:avLst/>
          </a:prstGeom>
          <a:solidFill>
            <a:srgbClr val="2FA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795528"/>
            <a:ext cx="155448" cy="1554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987552"/>
            <a:ext cx="155448" cy="155448"/>
          </a:xfrm>
          <a:prstGeom prst="round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47472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3"/>
                </a:solidFill>
                <a:latin typeface="Cambria"/>
              </a:rPr>
              <a:t>Algorithm: QAOA that only makes legal moves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05156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575"/>
                </a:solidFill>
                <a:latin typeface="Calibri"/>
              </a:rPr>
              <a:t>Start in all legal choices, then alternate a cost layer and a per-cube mixer, p times</a:t>
            </a:r>
          </a:p>
        </p:txBody>
      </p:sp>
      <p:pic>
        <p:nvPicPr>
          <p:cNvPr id="8" name="Picture 7" descr="circuit_one_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675120" cy="183409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737360"/>
            <a:ext cx="3931920" cy="804672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810512"/>
            <a:ext cx="3657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E9488"/>
                </a:solidFill>
                <a:latin typeface="Calibri"/>
              </a:rPr>
              <a:t>1  Start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B2433"/>
                </a:solidFill>
                <a:latin typeface="Calibri"/>
              </a:rPr>
              <a:t>each cube in an equal mix of its 6 codes (RY, controlled-H, 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651760"/>
            <a:ext cx="3931920" cy="804672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724912"/>
            <a:ext cx="3657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E9488"/>
                </a:solidFill>
                <a:latin typeface="Calibri"/>
              </a:rPr>
              <a:t>2  Cost layer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B2433"/>
                </a:solidFill>
                <a:latin typeface="Calibri"/>
              </a:rPr>
              <a:t>exp(−iγH): each Z string is a CNOT ladder + one RZ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566160"/>
            <a:ext cx="3931920" cy="804672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639312"/>
            <a:ext cx="3657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E9488"/>
                </a:solidFill>
                <a:latin typeface="Calibri"/>
              </a:rPr>
              <a:t>3  Mixer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B2433"/>
                </a:solidFill>
                <a:latin typeface="Calibri"/>
              </a:rPr>
              <a:t>exp(−iβ|u⟩⟨u|) per cube: any legal choice can become any other, never an illegal 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480560"/>
            <a:ext cx="3931920" cy="804672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553712"/>
            <a:ext cx="3657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E9488"/>
                </a:solidFill>
                <a:latin typeface="Calibri"/>
              </a:rPr>
              <a:t>4  Tune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B2433"/>
                </a:solidFill>
                <a:latin typeface="Calibri"/>
              </a:rPr>
              <a:t>pick γ, β by minimising the average cost on a simulator, never using the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5394960"/>
            <a:ext cx="3931920" cy="804672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5468112"/>
            <a:ext cx="3657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E9488"/>
                </a:solidFill>
                <a:latin typeface="Calibri"/>
              </a:rPr>
              <a:t>5  Measure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B2433"/>
                </a:solidFill>
                <a:latin typeface="Calibri"/>
              </a:rPr>
              <a:t>decode every shot and check it with solves()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667512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575"/>
                </a:solidFill>
                <a:latin typeface="Calibri"/>
              </a:rPr>
              <a:t>Above: one cube's start state, then one mixer step (undo the start, phase on |000⟩, redo). One full layer at N = 4 is about 550 CNOTs after transpiling to rz, sx, x, cx.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" cy="15544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03504"/>
            <a:ext cx="155448" cy="155448"/>
          </a:xfrm>
          <a:prstGeom prst="roundRect">
            <a:avLst/>
          </a:prstGeom>
          <a:solidFill>
            <a:srgbClr val="2FA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795528"/>
            <a:ext cx="155448" cy="1554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987552"/>
            <a:ext cx="155448" cy="155448"/>
          </a:xfrm>
          <a:prstGeom prst="round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47472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3"/>
                </a:solidFill>
                <a:latin typeface="Cambria"/>
              </a:rPr>
              <a:t>Classical checks before any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05156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575"/>
                </a:solidFill>
                <a:latin typeface="Calibri"/>
              </a:rPr>
              <a:t>Every check is an assert in the notebook; all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103120"/>
            <a:ext cx="502920" cy="502920"/>
          </a:xfrm>
          <a:prstGeom prst="ellipse">
            <a:avLst/>
          </a:prstGeom>
          <a:solidFill>
            <a:srgbClr val="0E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74519"/>
            <a:ext cx="416052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2433"/>
                </a:solidFill>
                <a:latin typeface="Calibri"/>
              </a:rPr>
              <a:t>H = classical cost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B6575"/>
                </a:solidFill>
                <a:latin typeface="Calibri"/>
              </a:rPr>
              <a:t>N = 4 to 6: every valid state; N = 7, 8: 3,000 random ones. Largest gap 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73736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59" y="2103120"/>
            <a:ext cx="502920" cy="502920"/>
          </a:xfrm>
          <a:prstGeom prst="ellipse">
            <a:avLst/>
          </a:prstGeom>
          <a:solidFill>
            <a:srgbClr val="0E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1874519"/>
            <a:ext cx="416052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2433"/>
                </a:solidFill>
                <a:latin typeface="Calibri"/>
              </a:rPr>
              <a:t>Lowest energy = the answer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B6575"/>
                </a:solidFill>
                <a:latin typeface="Calibri"/>
              </a:rPr>
              <a:t>exactly 2 zero-cost states = count_answers = graph method; no ties (next cost is 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566160"/>
            <a:ext cx="502920" cy="502920"/>
          </a:xfrm>
          <a:prstGeom prst="ellipse">
            <a:avLst/>
          </a:prstGeom>
          <a:solidFill>
            <a:srgbClr val="0E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337560"/>
            <a:ext cx="416052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2433"/>
                </a:solidFill>
                <a:latin typeface="Calibri"/>
              </a:rPr>
              <a:t>Independent cost agrees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B6575"/>
                </a:solidFill>
                <a:latin typeface="Calibri"/>
              </a:rPr>
              <a:t>the starter's 24-qubit QUBO is zero on the same 2 states.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20040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59" y="3566160"/>
            <a:ext cx="502920" cy="502920"/>
          </a:xfrm>
          <a:prstGeom prst="ellipse">
            <a:avLst/>
          </a:prstGeom>
          <a:solidFill>
            <a:srgbClr val="0E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3337560"/>
            <a:ext cx="416052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2433"/>
                </a:solidFill>
                <a:latin typeface="Calibri"/>
              </a:rPr>
              <a:t>Circuit stays legal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B6575"/>
                </a:solidFill>
                <a:latin typeface="Calibri"/>
              </a:rPr>
              <a:t>start state is 1/6 on each valid code; leakage to codes 6, 7 is 2e-15; 0 invalid shots.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5029200"/>
            <a:ext cx="502920" cy="502920"/>
          </a:xfrm>
          <a:prstGeom prst="ellipse">
            <a:avLst/>
          </a:prstGeom>
          <a:solidFill>
            <a:srgbClr val="0E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800600"/>
            <a:ext cx="416052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2433"/>
                </a:solidFill>
                <a:latin typeface="Calibri"/>
              </a:rPr>
              <a:t>Fast simulator = Qiskit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B6575"/>
                </a:solidFill>
                <a:latin typeface="Calibri"/>
              </a:rPr>
              <a:t>our 6^N simulator matches Statevector of the real circuit to 3e-17.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466344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37959" y="5029200"/>
            <a:ext cx="502920" cy="502920"/>
          </a:xfrm>
          <a:prstGeom prst="ellipse">
            <a:avLst/>
          </a:prstGeom>
          <a:solidFill>
            <a:srgbClr val="0E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4800600"/>
            <a:ext cx="416052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2433"/>
                </a:solidFill>
                <a:latin typeface="Calibri"/>
              </a:rPr>
              <a:t>Every tower checked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B6575"/>
                </a:solidFill>
                <a:latin typeface="Calibri"/>
              </a:rPr>
              <a:t>each measured shot is decoded (qubit 0 = rightmost bit) and passed to solves().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" cy="15544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03504"/>
            <a:ext cx="155448" cy="155448"/>
          </a:xfrm>
          <a:prstGeom prst="roundRect">
            <a:avLst/>
          </a:prstGeom>
          <a:solidFill>
            <a:srgbClr val="2FA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795528"/>
            <a:ext cx="155448" cy="1554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987552"/>
            <a:ext cx="155448" cy="155448"/>
          </a:xfrm>
          <a:prstGeom prst="round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47472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3"/>
                </a:solidFill>
                <a:latin typeface="Cambria"/>
              </a:rPr>
              <a:t>Four cubes: 73% of shots are the solved tower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05156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575"/>
                </a:solidFill>
                <a:latin typeface="Calibri"/>
              </a:rPr>
              <a:t>Constrained QAOA, 12 qubits, 1000 shots per circuit; random legal guess = 0.15%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45920"/>
          <a:ext cx="6766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0" y="1737360"/>
          <a:ext cx="3931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"/>
                <a:gridCol w="786384"/>
                <a:gridCol w="786384"/>
                <a:gridCol w="786384"/>
                <a:gridCol w="786384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CX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depth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SV1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exact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550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522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2,188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2,040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4,372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4,064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6,556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6,088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0" y="4343400"/>
            <a:ext cx="393192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B2433"/>
                </a:solidFill>
                <a:latin typeface="Calibri"/>
              </a:rPr>
              <a:t>Device: 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aws:aws:sim:sv1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B2433"/>
                </a:solidFill>
                <a:latin typeface="Calibri"/>
              </a:rPr>
              <a:t>Measured at p = 12: about 475× a random legal guess. 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Measured shots match the exact value within shot noise.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B2433"/>
                </a:solidFill>
                <a:latin typeface="Calibri"/>
              </a:rPr>
              <a:t>Warm-up (front/back only, starter): 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31% good picks at p = 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" cy="15544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03504"/>
            <a:ext cx="155448" cy="155448"/>
          </a:xfrm>
          <a:prstGeom prst="roundRect">
            <a:avLst/>
          </a:prstGeom>
          <a:solidFill>
            <a:srgbClr val="2FA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795528"/>
            <a:ext cx="155448" cy="1554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987552"/>
            <a:ext cx="155448" cy="155448"/>
          </a:xfrm>
          <a:prstGeom prst="round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47472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433"/>
                </a:solidFill>
                <a:latin typeface="Cambria"/>
              </a:rPr>
              <a:t>Bonus: same method for N cubes and N colours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05156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575"/>
                </a:solidFill>
                <a:latin typeface="Calibri"/>
              </a:rPr>
              <a:t>make_puzzle seeds {5: 16, 6: 86, 7: 68, 8: 4}, each with exactly one tower; depth fixed at p =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45920"/>
          <a:ext cx="60350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40880" y="1737360"/>
          <a:ext cx="4663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qubits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CX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exact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SV1 shots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× random</a:t>
                      </a:r>
                    </a:p>
                  </a:txBody>
                  <a:tcPr>
                    <a:solidFill>
                      <a:srgbClr val="0E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5,464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375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9,285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13,446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9.5%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9.4%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2,206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16,627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4,877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21,128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4.3%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Calibri"/>
                        </a:rPr>
                        <a:t>36,057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40880" y="4709160"/>
            <a:ext cx="466344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B2433"/>
                </a:solidFill>
                <a:latin typeface="Calibri"/>
              </a:rPr>
              <a:t>Qubits grow as 3N; CNOTs per layer grow about linearly here (550 → 2,100).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B2433"/>
                </a:solidFill>
                <a:latin typeface="Calibri"/>
              </a:rPr>
              <a:t>At fixed depth success falls with N, but more slowly than random guessing: the advantage over guessing grows. Keeping success high would need more layers.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55448" cy="15544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94944"/>
            <a:ext cx="155448" cy="155448"/>
          </a:xfrm>
          <a:prstGeom prst="roundRect">
            <a:avLst/>
          </a:prstGeom>
          <a:solidFill>
            <a:srgbClr val="2FA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86968"/>
            <a:ext cx="155448" cy="1554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078992"/>
            <a:ext cx="155448" cy="155448"/>
          </a:xfrm>
          <a:prstGeom prst="round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36576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What we learned, and what we'd try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8521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Layers needed to reach 50% success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691640"/>
          <a:ext cx="6035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806440"/>
            <a:ext cx="58521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9D3DA"/>
                </a:solidFill>
                <a:latin typeface="Calibri"/>
              </a:rPr>
              <a:t>9 puzzles, exact simulation, angles tuned on the average cost only. Puzzles of the same size differ a lot, so one puzzle per size is not enough.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325880"/>
            <a:ext cx="4754880" cy="5303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 i="0">
                <a:solidFill>
                  <a:srgbClr val="5FD4C8"/>
                </a:solidFill>
                <a:latin typeface="Cambria"/>
              </a:rPr>
              <a:t>Learned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9D3DA"/>
                </a:solidFill>
                <a:latin typeface="Calibri"/>
              </a:rPr>
              <a:t>Rules built into the encoding: half the qubits, no penalties, 0 wasted shots.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9D3DA"/>
                </a:solidFill>
                <a:latin typeface="Calibri"/>
              </a:rPr>
              <a:t>QAOA concentrates probability on the answer (73% vs 0.15% guessing), checked shot by shot.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9D3DA"/>
                </a:solidFill>
                <a:latin typeface="Calibri"/>
              </a:rPr>
              <a:t>Layers needed grow with N, and vary a lot between puzzles of the same size.</a:t>
            </a:r>
          </a:p>
          <a:p>
            <a:pPr algn="l">
              <a:spcAft>
                <a:spcPts val="700"/>
              </a:spcAft>
            </a:pPr>
            <a:r>
              <a:rPr sz="1900" b="1" i="0">
                <a:solidFill>
                  <a:srgbClr val="F0B070"/>
                </a:solidFill>
                <a:latin typeface="Cambria"/>
              </a:rPr>
              <a:t>Fair comparison: no quantum advantage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9D3DA"/>
                </a:solidFill>
                <a:latin typeface="Calibri"/>
              </a:rPr>
              <a:t>A smart classical solver finds the 8-cube tower in 13 ms. </a:t>
            </a:r>
            <a:r>
              <a:rPr sz="1400" b="0" i="0">
                <a:solidFill>
                  <a:srgbClr val="C9D3DA"/>
                </a:solidFill>
                <a:latin typeface="Calibri"/>
              </a:rPr>
              <a:t>QAOA would need about 65,000 CNOTs per shot at 50%, </a:t>
            </a:r>
            <a:r>
              <a:rPr sz="1400" b="0" i="0">
                <a:solidFill>
                  <a:srgbClr val="C9D3DA"/>
                </a:solidFill>
                <a:latin typeface="Calibri"/>
              </a:rPr>
              <a:t>plus thousands of runs to tune: far beyond today's hardware.</a:t>
            </a:r>
          </a:p>
          <a:p>
            <a:pPr algn="l">
              <a:spcAft>
                <a:spcPts val="7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Next step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9D3DA"/>
                </a:solidFill>
                <a:latin typeface="Calibri"/>
              </a:rPr>
              <a:t>Track how layers grow at larger N, with CVaR (tune for the best shots, not the average).</a:t>
            </a:r>
          </a:p>
          <a:p>
            <a:pPr algn="l">
              <a:spcAft>
                <a:spcPts val="700"/>
              </a:spcAft>
            </a:pPr>
            <a:r>
              <a:rPr sz="1200" b="0" i="1">
                <a:solidFill>
                  <a:srgbClr val="C9D3DA"/>
                </a:solidFill>
                <a:latin typeface="Calibri"/>
              </a:rPr>
              <a:t>AI use: Claude Code wrote code and docs; every model was checked against brute force.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