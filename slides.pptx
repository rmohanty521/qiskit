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7" r:id="rId2"/>
    <p:sldId id="258" r:id="rId3"/>
    <p:sldId id="265" r:id="rId4"/>
    <p:sldId id="266" r:id="rId5"/>
    <p:sldId id="267" r:id="rId6"/>
    <p:sldId id="268" r:id="rId7"/>
    <p:sldId id="261" r:id="rId8"/>
    <p:sldId id="264" r:id="rId9"/>
    <p:sldId id="263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23"/>
    <p:restoredTop sz="94688"/>
  </p:normalViewPr>
  <p:slideViewPr>
    <p:cSldViewPr snapToGrid="0" snapToObjects="1">
      <p:cViewPr varScale="1">
        <p:scale>
          <a:sx n="116" d="100"/>
          <a:sy n="116" d="100"/>
        </p:scale>
        <p:origin x="608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exact (simulator)</c:v>
                </c:pt>
              </c:strCache>
            </c:strRef>
          </c:tx>
          <c:spPr>
            <a:ln w="31750">
              <a:solidFill>
                <a:srgbClr val="0E9488"/>
              </a:solidFill>
            </a:ln>
          </c:spPr>
          <c:marker>
            <c:symbol val="circle"/>
            <c:size val="5"/>
            <c:spPr>
              <a:solidFill>
                <a:srgbClr val="0E9488"/>
              </a:solidFill>
            </c:spPr>
          </c:marker>
          <c:cat>
            <c:strRef>
              <c:f>Sheet1!$A$2:$A$13</c:f>
              <c:strCach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1.0956797062765046E-2</c:v>
                </c:pt>
                <c:pt idx="1">
                  <c:v>2.7382640339884912E-2</c:v>
                </c:pt>
                <c:pt idx="2">
                  <c:v>4.7695289998323655E-2</c:v>
                </c:pt>
                <c:pt idx="3">
                  <c:v>8.8096036256459259E-2</c:v>
                </c:pt>
                <c:pt idx="4">
                  <c:v>0.14184200152100823</c:v>
                </c:pt>
                <c:pt idx="5">
                  <c:v>0.2113435942587491</c:v>
                </c:pt>
                <c:pt idx="6">
                  <c:v>0.32074272777074336</c:v>
                </c:pt>
                <c:pt idx="7">
                  <c:v>0.41789390003074395</c:v>
                </c:pt>
                <c:pt idx="8">
                  <c:v>0.50145021424486147</c:v>
                </c:pt>
                <c:pt idx="9">
                  <c:v>0.57928422245448596</c:v>
                </c:pt>
                <c:pt idx="10">
                  <c:v>0.65955878359695363</c:v>
                </c:pt>
                <c:pt idx="11">
                  <c:v>0.72889016992838229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51C1-FC4B-BD5F-5EC877F36BE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lang="en-US" sz="1200" b="0">
                    <a:solidFill>
                      <a:srgbClr val="5B6575"/>
                    </a:solidFill>
                  </a:rPr>
                  <a:t>layers p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  <c:max val="1"/>
        </c:scaling>
        <c:delete val="0"/>
        <c:axPos val="l"/>
        <c:majorGridlines>
          <c:spPr>
            <a:ln>
              <a:solidFill>
                <a:srgbClr val="DDDDDD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en-US" sz="1200" b="0">
                    <a:solidFill>
                      <a:srgbClr val="5B6575"/>
                    </a:solidFill>
                  </a:rPr>
                  <a:t>P(correct tower)</a:t>
                </a:r>
              </a:p>
            </c:rich>
          </c:tx>
          <c:overlay val="0"/>
        </c:title>
        <c:numFmt formatCode="0%" sourceLinked="0"/>
        <c:majorTickMark val="out"/>
        <c:minorTickMark val="none"/>
        <c:tickLblPos val="nextTo"/>
        <c:spPr>
          <a:ln>
            <a:noFill/>
          </a:ln>
        </c:spPr>
        <c:crossAx val="2118791784"/>
        <c:crosses val="autoZero"/>
        <c:crossBetween val="between"/>
      </c:valAx>
    </c:plotArea>
    <c:plotVisOnly val="1"/>
    <c:dispBlanksAs val="gap"/>
    <c:showDLblsOverMax val="0"/>
  </c:chart>
  <c:txPr>
    <a:bodyPr/>
    <a:lstStyle/>
    <a:p>
      <a:pPr>
        <a:defRPr sz="1200">
          <a:solidFill>
            <a:srgbClr val="5B6575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classical graph method</c:v>
                </c:pt>
              </c:strCache>
            </c:strRef>
          </c:tx>
          <c:spPr>
            <a:ln w="31750">
              <a:solidFill>
                <a:srgbClr val="C2772A"/>
              </a:solidFill>
            </a:ln>
          </c:spPr>
          <c:marker>
            <c:symbol val="circle"/>
            <c:size val="5"/>
            <c:spPr>
              <a:solidFill>
                <a:srgbClr val="C2772A"/>
              </a:solidFill>
              <a:ln>
                <a:solidFill>
                  <a:srgbClr val="C2772A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4</c:v>
                </c:pt>
                <c:pt idx="1">
                  <c:v>5</c:v>
                </c:pt>
                <c:pt idx="2">
                  <c:v>6</c:v>
                </c:pt>
                <c:pt idx="3">
                  <c:v>7</c:v>
                </c:pt>
                <c:pt idx="4">
                  <c:v>8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</c:v>
                </c:pt>
                <c:pt idx="1">
                  <c:v>1</c:v>
                </c:pt>
                <c:pt idx="2">
                  <c:v>1</c:v>
                </c:pt>
                <c:pt idx="3">
                  <c:v>1</c:v>
                </c:pt>
                <c:pt idx="4">
                  <c:v>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441C-CD4C-A159-0905C962940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QAOA p = 10</c:v>
                </c:pt>
              </c:strCache>
            </c:strRef>
          </c:tx>
          <c:spPr>
            <a:ln w="31750">
              <a:solidFill>
                <a:srgbClr val="0E9488"/>
              </a:solidFill>
            </a:ln>
          </c:spPr>
          <c:marker>
            <c:symbol val="circle"/>
            <c:size val="5"/>
            <c:spPr>
              <a:solidFill>
                <a:srgbClr val="0E9488"/>
              </a:solidFill>
              <a:ln>
                <a:solidFill>
                  <a:srgbClr val="0E9488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4</c:v>
                </c:pt>
                <c:pt idx="1">
                  <c:v>5</c:v>
                </c:pt>
                <c:pt idx="2">
                  <c:v>6</c:v>
                </c:pt>
                <c:pt idx="3">
                  <c:v>7</c:v>
                </c:pt>
                <c:pt idx="4">
                  <c:v>8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0.5787952599097943</c:v>
                </c:pt>
                <c:pt idx="1">
                  <c:v>9.108621479612343E-2</c:v>
                </c:pt>
                <c:pt idx="2">
                  <c:v>9.456350094970882E-2</c:v>
                </c:pt>
                <c:pt idx="3">
                  <c:v>3.4842860827995967E-2</c:v>
                </c:pt>
                <c:pt idx="4">
                  <c:v>4.2934894629718424E-2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441C-CD4C-A159-0905C962940A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random legal guess</c:v>
                </c:pt>
              </c:strCache>
            </c:strRef>
          </c:tx>
          <c:spPr>
            <a:ln w="31750">
              <a:solidFill>
                <a:srgbClr val="5B6575"/>
              </a:solidFill>
            </a:ln>
          </c:spPr>
          <c:marker>
            <c:symbol val="circle"/>
            <c:size val="5"/>
            <c:spPr>
              <a:solidFill>
                <a:srgbClr val="5B6575"/>
              </a:solidFill>
              <a:ln>
                <a:solidFill>
                  <a:srgbClr val="5B6575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4</c:v>
                </c:pt>
                <c:pt idx="1">
                  <c:v>5</c:v>
                </c:pt>
                <c:pt idx="2">
                  <c:v>6</c:v>
                </c:pt>
                <c:pt idx="3">
                  <c:v>7</c:v>
                </c:pt>
                <c:pt idx="4">
                  <c:v>8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1.5432098765432098E-3</c:v>
                </c:pt>
                <c:pt idx="1">
                  <c:v>2.57201646090535E-4</c:v>
                </c:pt>
                <c:pt idx="2">
                  <c:v>4.286694101508916E-5</c:v>
                </c:pt>
                <c:pt idx="3">
                  <c:v>7.144490169181527E-6</c:v>
                </c:pt>
                <c:pt idx="4">
                  <c:v>1.1907483615302546E-6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441C-CD4C-A159-0905C962940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lang="en-US" sz="1200" b="0">
                    <a:solidFill>
                      <a:srgbClr val="5B6575"/>
                    </a:solidFill>
                  </a:rPr>
                  <a:t>N cubes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low"/>
        <c:crossAx val="2140495176"/>
        <c:crosses val="min"/>
        <c:auto val="1"/>
        <c:lblAlgn val="ctr"/>
        <c:lblOffset val="100"/>
        <c:noMultiLvlLbl val="0"/>
      </c:catAx>
      <c:valAx>
        <c:axId val="2140495176"/>
        <c:scaling>
          <c:logBase val="10"/>
          <c:orientation val="minMax"/>
        </c:scaling>
        <c:delete val="0"/>
        <c:axPos val="l"/>
        <c:majorGridlines>
          <c:spPr>
            <a:ln>
              <a:solidFill>
                <a:srgbClr val="DDDDDD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en-US" sz="1200" b="0">
                    <a:solidFill>
                      <a:srgbClr val="5B6575"/>
                    </a:solidFill>
                  </a:rPr>
                  <a:t>P(correct tower), log scale</a:t>
                </a:r>
              </a:p>
            </c:rich>
          </c:tx>
          <c:overlay val="0"/>
        </c:title>
        <c:numFmt formatCode="[&gt;=0.01]0%;[&gt;=0.00001]0.0##%;0.0000%" sourceLinked="0"/>
        <c:majorTickMark val="out"/>
        <c:minorTickMark val="none"/>
        <c:tickLblPos val="nextTo"/>
        <c:spPr>
          <a:ln>
            <a:noFill/>
          </a:ln>
        </c:spPr>
        <c:crossAx val="2118791784"/>
        <c:crosses val="autoZero"/>
        <c:crossBetween val="between"/>
      </c:valAx>
    </c:plotArea>
    <c:legend>
      <c:legendPos val="b"/>
      <c:overlay val="0"/>
    </c:legend>
    <c:plotVisOnly val="1"/>
    <c:dispBlanksAs val="gap"/>
    <c:showDLblsOverMax val="0"/>
  </c:chart>
  <c:txPr>
    <a:bodyPr/>
    <a:lstStyle/>
    <a:p>
      <a:pPr>
        <a:defRPr sz="1200">
          <a:solidFill>
            <a:srgbClr val="5B6575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470258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Speaker 1: introduce the team and the one-line story: 3 qubits per cube, a mixer that only allows legal moves, and classical checks everywhere.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Speaker 1: why it's hard by hand, why it's easy for a computer at N=4, and how the graph view shrinks it to 6 choices per cube.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/>
              <a:t>Speaker 1: bit order – qubit 0 is the rightmost character in a Qiskit key, so the first cube is the last 3 characters. We tested the decoder on the known answer.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Speaker 2: Step 1, three gates per cube. RY splits probability 4 to 2 between codes 0–3 and 4–5, the controlled-H fires only when the leading bit is 0 (so 11x stays empty), and H on the last bit splits every branch in half. Step 2, the rule (every colour twice per side) is the same as counting colour clashes; each clash involves one or two cubes, which is why every term touches at most 6 qubits. Each term is a parity with a weight J fixed by the colours: a CNOT gathers the parity onto one qubit, RZ adds the phase, the CNOT undoes it. Probabilities do not change in step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Speaker 2: the figure is one cube, start state then one mixer. The mixer nudges every code by the same amount along the cube's average amplitude; codes whose phase lines up with the push grow. The sign of β decides which towers grow. Same β on all four cubes ('complete graph' mixer). Tuning never uses the answer: we lower the average cost, computed exactly on our 6^N simulator, one layer at a time (INTERP). Then 1000 shots, each decoded with qubit 0 as the rightmost bit and checked with solves().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Speaker 3: this is the slide for the tie-break criterion. For each check, say what it compared and which mistake it would have caught. Together they cover the cost, the circuit, the simulator and the decoding.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Speaker 2: the line is the exact simulation; the table is shots. Point out the baseline and that no shot was an illegal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Speaker 3: angles for N=5-8 were tuned offline with the same function and reloaded; the notebook recomputes their success. N=7,8 local shots come from the exact distribution unless run on SV1.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Speaker 3: the chart answers 'how many layers to keep success at 50%?'. Then the fair comparison: classical wins clearly at these sizes. Close with the next step.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chart" Target="../charts/char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320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822960" y="1828800"/>
            <a:ext cx="384048" cy="384048"/>
          </a:xfrm>
          <a:prstGeom prst="roundRect">
            <a:avLst/>
          </a:prstGeom>
          <a:solidFill>
            <a:srgbClr val="D64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822960" y="2249424"/>
            <a:ext cx="384048" cy="384048"/>
          </a:xfrm>
          <a:prstGeom prst="roundRect">
            <a:avLst/>
          </a:prstGeom>
          <a:solidFill>
            <a:srgbClr val="2FA9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822960" y="2670048"/>
            <a:ext cx="384048" cy="384048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822960" y="3090672"/>
            <a:ext cx="384048" cy="384048"/>
          </a:xfrm>
          <a:prstGeom prst="roundRect">
            <a:avLst/>
          </a:prstGeom>
          <a:solidFill>
            <a:srgbClr val="E8B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645920" y="1691640"/>
            <a:ext cx="9601200" cy="109728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800" b="1" i="0">
                <a:solidFill>
                  <a:srgbClr val="FFFFFF"/>
                </a:solidFill>
                <a:latin typeface="Cambria"/>
              </a:rPr>
              <a:t>Instant Insanity on 12 qubits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2743200"/>
            <a:ext cx="9601200" cy="9144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B8C4CC"/>
                </a:solidFill>
                <a:latin typeface="Calibri"/>
              </a:rPr>
              <a:t>A compact encoding and constrained QAOA, checked against brute force at every step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4206240"/>
            <a:ext cx="9601200" cy="109728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B8C4CC"/>
                </a:solidFill>
                <a:latin typeface="Calibri"/>
              </a:rPr>
              <a:t>Team: Zain Irfan, Mark Gebuza, Rithwik Mohanty</a:t>
            </a:r>
          </a:p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B8C4CC"/>
                </a:solidFill>
                <a:latin typeface="Calibri"/>
              </a:rPr>
              <a:t>Qiskit Fall Fest CT 2026 · qBraid challenge · warm-up, core and bonus (N = 4 to 8)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48640" y="411480"/>
            <a:ext cx="155448" cy="155448"/>
          </a:xfrm>
          <a:prstGeom prst="roundRect">
            <a:avLst/>
          </a:prstGeom>
          <a:solidFill>
            <a:srgbClr val="D64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48640" y="603504"/>
            <a:ext cx="155448" cy="155448"/>
          </a:xfrm>
          <a:prstGeom prst="roundRect">
            <a:avLst/>
          </a:prstGeom>
          <a:solidFill>
            <a:srgbClr val="2FA9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548640" y="795528"/>
            <a:ext cx="155448" cy="155448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548640" y="987552"/>
            <a:ext cx="155448" cy="155448"/>
          </a:xfrm>
          <a:prstGeom prst="roundRect">
            <a:avLst/>
          </a:prstGeom>
          <a:solidFill>
            <a:srgbClr val="E8B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60120" y="347472"/>
            <a:ext cx="10515600" cy="7315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B2433"/>
                </a:solidFill>
                <a:latin typeface="Cambria"/>
              </a:rPr>
              <a:t>The puzzle: 8 good towers out of 331,776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1051560"/>
            <a:ext cx="10515600" cy="4572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B6575"/>
                </a:solidFill>
                <a:latin typeface="Calibri"/>
              </a:rPr>
              <a:t>Stack 4 cubes so every side shows red, green, blue and yellow exactly once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508760"/>
            <a:ext cx="7315200" cy="36576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5B6575"/>
                </a:solidFill>
                <a:latin typeface="Calibri"/>
              </a:rPr>
              <a:t>The four cubes, unfolded</a:t>
            </a:r>
          </a:p>
        </p:txBody>
      </p:sp>
      <p:pic>
        <p:nvPicPr>
          <p:cNvPr id="9" name="Picture 8" descr="fig_ne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828800"/>
            <a:ext cx="7315200" cy="152326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869680" y="1508760"/>
            <a:ext cx="2743200" cy="36576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5B6575"/>
                </a:solidFill>
                <a:latin typeface="Calibri"/>
              </a:rPr>
              <a:t>The one solved tower</a:t>
            </a:r>
          </a:p>
        </p:txBody>
      </p:sp>
      <p:pic>
        <p:nvPicPr>
          <p:cNvPr id="11" name="Picture 10" descr="fig_tow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61120" y="1828800"/>
            <a:ext cx="1914290" cy="1874519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1520" y="3977639"/>
            <a:ext cx="2743200" cy="82296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 i="0">
                <a:solidFill>
                  <a:srgbClr val="0E9488"/>
                </a:solidFill>
                <a:latin typeface="Cambria"/>
              </a:rPr>
              <a:t>331,776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754879"/>
            <a:ext cx="2743200" cy="64008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5B6575"/>
                </a:solidFill>
                <a:latin typeface="Calibri"/>
              </a:rPr>
              <a:t>ways to stack 4 cubes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3977639"/>
            <a:ext cx="2103120" cy="82296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 i="0">
                <a:solidFill>
                  <a:srgbClr val="C2772A"/>
                </a:solidFill>
                <a:latin typeface="Cambria"/>
              </a:rPr>
              <a:t>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4754879"/>
            <a:ext cx="2103120" cy="64008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5B6575"/>
                </a:solidFill>
                <a:latin typeface="Calibri"/>
              </a:rPr>
              <a:t>solved: one tower, 8 views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0720" y="3977639"/>
            <a:ext cx="2103120" cy="82296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 i="0">
                <a:solidFill>
                  <a:srgbClr val="5B6575"/>
                </a:solidFill>
                <a:latin typeface="Cambria"/>
              </a:rPr>
              <a:t>0.14 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60720" y="4754879"/>
            <a:ext cx="2103120" cy="64008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5B6575"/>
                </a:solidFill>
                <a:latin typeface="Calibri"/>
              </a:rPr>
              <a:t>classical brute force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669280"/>
            <a:ext cx="6949440" cy="82296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1">
                <a:solidFill>
                  <a:srgbClr val="5B6575"/>
                </a:solidFill>
                <a:latin typeface="Calibri"/>
              </a:rPr>
              <a:t>The general N-cube problem is NP-complete. We do not claim a speedup.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55279" y="3840480"/>
            <a:ext cx="3840480" cy="36576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5B6575"/>
                </a:solidFill>
                <a:latin typeface="Calibri"/>
              </a:rPr>
              <a:t>Graph view: colours are dots, opposite pairs are lines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79" y="4206240"/>
            <a:ext cx="3657600" cy="2377440"/>
          </a:xfrm>
          <a:prstGeom prst="roundRect">
            <a:avLst>
              <a:gd name="adj" fmla="val 6000"/>
            </a:avLst>
          </a:prstGeom>
          <a:solidFill>
            <a:srgbClr val="E8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1" name="Picture 20" descr="fig_graph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92440" y="4297680"/>
            <a:ext cx="2885440" cy="21945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48640" y="411480"/>
            <a:ext cx="155448" cy="155448"/>
          </a:xfrm>
          <a:prstGeom prst="roundRect">
            <a:avLst/>
          </a:prstGeom>
          <a:solidFill>
            <a:srgbClr val="D64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48640" y="603504"/>
            <a:ext cx="155448" cy="155448"/>
          </a:xfrm>
          <a:prstGeom prst="roundRect">
            <a:avLst/>
          </a:prstGeom>
          <a:solidFill>
            <a:srgbClr val="2FA9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548640" y="795528"/>
            <a:ext cx="155448" cy="155448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548640" y="987552"/>
            <a:ext cx="155448" cy="155448"/>
          </a:xfrm>
          <a:prstGeom prst="roundRect">
            <a:avLst/>
          </a:prstGeom>
          <a:solidFill>
            <a:srgbClr val="E8B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60120" y="347472"/>
            <a:ext cx="10515600" cy="7315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B2433"/>
                </a:solidFill>
                <a:latin typeface="Cambria"/>
              </a:rPr>
              <a:t>The trick: 6 choices per cube fit in 3 qubits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1051560"/>
            <a:ext cx="10515600" cy="4572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B6575"/>
                </a:solidFill>
                <a:latin typeface="Calibri"/>
              </a:rPr>
              <a:t>Each code places a cube's three opposite-face pairs: one front/back, one left/right, one hidden</a:t>
            </a:r>
          </a:p>
        </p:txBody>
      </p:sp>
      <p:pic>
        <p:nvPicPr>
          <p:cNvPr id="8" name="Picture 7" descr="fig_graph_f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2881445" cy="2331720"/>
          </a:xfrm>
          <a:prstGeom prst="rect">
            <a:avLst/>
          </a:prstGeom>
        </p:spPr>
      </p:pic>
      <p:pic>
        <p:nvPicPr>
          <p:cNvPr id="9" name="Picture 8" descr="fig_graph_l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4023360"/>
            <a:ext cx="2881445" cy="2331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840480" y="1600200"/>
            <a:ext cx="7863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1" i="0">
                <a:solidFill>
                  <a:srgbClr val="1B2433"/>
                </a:solidFill>
                <a:latin typeface="Calibri"/>
              </a:rPr>
              <a:t>Cube 1's six choices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840480" y="2011680"/>
          <a:ext cx="786384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77190"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Code</a:t>
                      </a:r>
                    </a:p>
                  </a:txBody>
                  <a:tcPr>
                    <a:solidFill>
                      <a:srgbClr val="0E948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Qubits</a:t>
                      </a:r>
                    </a:p>
                  </a:txBody>
                  <a:tcPr>
                    <a:solidFill>
                      <a:srgbClr val="0E948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Front / back</a:t>
                      </a:r>
                    </a:p>
                  </a:txBody>
                  <a:tcPr>
                    <a:solidFill>
                      <a:srgbClr val="0E948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Left / right</a:t>
                      </a:r>
                    </a:p>
                  </a:txBody>
                  <a:tcPr>
                    <a:solidFill>
                      <a:srgbClr val="0E948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Hidden</a:t>
                      </a:r>
                    </a:p>
                  </a:txBody>
                  <a:tcPr>
                    <a:solidFill>
                      <a:srgbClr val="0E948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7190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B24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B2433"/>
                          </a:solidFill>
                          <a:latin typeface="Calibri"/>
                        </a:rPr>
                        <a:t>000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B2433"/>
                          </a:solidFill>
                          <a:latin typeface="Calibri"/>
                        </a:rPr>
                        <a:t>green / red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B2433"/>
                          </a:solidFill>
                          <a:latin typeface="Calibri"/>
                        </a:rPr>
                        <a:t>blue / red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B2433"/>
                          </a:solidFill>
                          <a:latin typeface="Calibri"/>
                        </a:rPr>
                        <a:t>green / yellow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7190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B243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B2433"/>
                          </a:solidFill>
                          <a:latin typeface="Calibri"/>
                        </a:rPr>
                        <a:t>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B2433"/>
                          </a:solidFill>
                          <a:latin typeface="Calibri"/>
                        </a:rPr>
                        <a:t>green / red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B2433"/>
                          </a:solidFill>
                          <a:latin typeface="Calibri"/>
                        </a:rPr>
                        <a:t>green / yellow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B2433"/>
                          </a:solidFill>
                          <a:latin typeface="Calibri"/>
                        </a:rPr>
                        <a:t>blue / red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7190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B243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B2433"/>
                          </a:solidFill>
                          <a:latin typeface="Calibri"/>
                        </a:rPr>
                        <a:t>010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B2433"/>
                          </a:solidFill>
                          <a:latin typeface="Calibri"/>
                        </a:rPr>
                        <a:t>blue / red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B2433"/>
                          </a:solidFill>
                          <a:latin typeface="Calibri"/>
                        </a:rPr>
                        <a:t>green / red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B2433"/>
                          </a:solidFill>
                          <a:latin typeface="Calibri"/>
                        </a:rPr>
                        <a:t>green / yellow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7190"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1B243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1C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1B2433"/>
                          </a:solidFill>
                          <a:latin typeface="Calibri"/>
                        </a:rPr>
                        <a:t>011</a:t>
                      </a:r>
                    </a:p>
                  </a:txBody>
                  <a:tcPr>
                    <a:solidFill>
                      <a:srgbClr val="FFF1C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1B2433"/>
                          </a:solidFill>
                          <a:latin typeface="Calibri"/>
                        </a:rPr>
                        <a:t>blue / red</a:t>
                      </a:r>
                    </a:p>
                  </a:txBody>
                  <a:tcPr>
                    <a:solidFill>
                      <a:srgbClr val="FFF1C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1B2433"/>
                          </a:solidFill>
                          <a:latin typeface="Calibri"/>
                        </a:rPr>
                        <a:t>green / yellow</a:t>
                      </a:r>
                    </a:p>
                  </a:txBody>
                  <a:tcPr>
                    <a:solidFill>
                      <a:srgbClr val="FFF1C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1B2433"/>
                          </a:solidFill>
                          <a:latin typeface="Calibri"/>
                        </a:rPr>
                        <a:t>green / red</a:t>
                      </a:r>
                    </a:p>
                  </a:txBody>
                  <a:tcPr>
                    <a:solidFill>
                      <a:srgbClr val="FFF1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7190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B243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B2433"/>
                          </a:solidFill>
                          <a:latin typeface="Calibri"/>
                        </a:rPr>
                        <a:t>100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B2433"/>
                          </a:solidFill>
                          <a:latin typeface="Calibri"/>
                        </a:rPr>
                        <a:t>green / yellow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B2433"/>
                          </a:solidFill>
                          <a:latin typeface="Calibri"/>
                        </a:rPr>
                        <a:t>green / red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B2433"/>
                          </a:solidFill>
                          <a:latin typeface="Calibri"/>
                        </a:rPr>
                        <a:t>blue / red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7190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B243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B2433"/>
                          </a:solidFill>
                          <a:latin typeface="Calibri"/>
                        </a:rPr>
                        <a:t>101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B2433"/>
                          </a:solidFill>
                          <a:latin typeface="Calibri"/>
                        </a:rPr>
                        <a:t>green / yellow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B2433"/>
                          </a:solidFill>
                          <a:latin typeface="Calibri"/>
                        </a:rPr>
                        <a:t>blue / red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B2433"/>
                          </a:solidFill>
                          <a:latin typeface="Calibri"/>
                        </a:rPr>
                        <a:t>green / red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7190">
                <a:tc>
                  <a:txBody>
                    <a:bodyPr/>
                    <a:lstStyle/>
                    <a:p>
                      <a:r>
                        <a:rPr sz="1400" b="0" i="1">
                          <a:solidFill>
                            <a:srgbClr val="888888"/>
                          </a:solidFill>
                          <a:latin typeface="Calibri"/>
                        </a:rPr>
                        <a:t>6, 7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1">
                          <a:solidFill>
                            <a:srgbClr val="888888"/>
                          </a:solidFill>
                          <a:latin typeface="Calibri"/>
                        </a:rPr>
                        <a:t>110, 111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1">
                          <a:solidFill>
                            <a:srgbClr val="888888"/>
                          </a:solidFill>
                          <a:latin typeface="Calibri"/>
                        </a:rPr>
                        <a:t>never used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E8F4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840480" y="5166360"/>
            <a:ext cx="7863840" cy="938719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>
              <a:spcAft>
                <a:spcPts val="600"/>
              </a:spcAft>
            </a:pPr>
            <a:r>
              <a:rPr sz="1500" b="1" i="0">
                <a:solidFill>
                  <a:srgbClr val="1B2433"/>
                </a:solidFill>
                <a:latin typeface="Calibri"/>
              </a:rPr>
              <a:t>In the answer, cube 1 is code 3 </a:t>
            </a:r>
            <a:r>
              <a:rPr sz="1500" b="0" i="0">
                <a:solidFill>
                  <a:srgbClr val="1B2433"/>
                </a:solidFill>
                <a:latin typeface="Calibri"/>
              </a:rPr>
              <a:t>(the purple line in both graphs).</a:t>
            </a:r>
          </a:p>
          <a:p>
            <a:pPr>
              <a:spcAft>
                <a:spcPts val="600"/>
              </a:spcAft>
            </a:pPr>
            <a:r>
              <a:rPr sz="1500" b="1" i="0">
                <a:solidFill>
                  <a:srgbClr val="1B2433"/>
                </a:solidFill>
                <a:latin typeface="Calibri"/>
              </a:rPr>
              <a:t>All four cubes: codes 3, 1, 4, 5. </a:t>
            </a:r>
            <a:r>
              <a:rPr sz="1500" b="0" i="0">
                <a:solidFill>
                  <a:srgbClr val="1B2433"/>
                </a:solidFill>
                <a:latin typeface="Calibri"/>
              </a:rPr>
              <a:t>Every </a:t>
            </a:r>
            <a:r>
              <a:rPr lang="en-US" sz="1500">
                <a:solidFill>
                  <a:srgbClr val="1B2433"/>
                </a:solidFill>
                <a:latin typeface="Calibri"/>
              </a:rPr>
              <a:t>color</a:t>
            </a:r>
            <a:r>
              <a:rPr lang="en-US" sz="1500" b="0" i="0">
                <a:solidFill>
                  <a:srgbClr val="1B2433"/>
                </a:solidFill>
                <a:latin typeface="Calibri"/>
              </a:rPr>
              <a:t> </a:t>
            </a:r>
            <a:r>
              <a:rPr sz="1500" b="0" i="0">
                <a:solidFill>
                  <a:srgbClr val="1B2433"/>
                </a:solidFill>
                <a:latin typeface="Calibri"/>
              </a:rPr>
              <a:t>shows up exactly twice front/back and twice left/right.</a:t>
            </a:r>
            <a:endParaRPr lang="en-US" sz="1500" b="0" i="0">
              <a:solidFill>
                <a:srgbClr val="1B2433"/>
              </a:solidFill>
              <a:latin typeface="Calibri"/>
              <a:ea typeface="Calibri"/>
              <a:cs typeface="Calibri"/>
            </a:endParaRPr>
          </a:p>
          <a:p>
            <a:pPr>
              <a:spcAft>
                <a:spcPts val="600"/>
              </a:spcAft>
            </a:pPr>
            <a:r>
              <a:rPr sz="1500" b="1" i="0">
                <a:solidFill>
                  <a:srgbClr val="0E9488"/>
                </a:solidFill>
                <a:latin typeface="Calibri"/>
              </a:rPr>
              <a:t>Score  C = Σ (d − 2)² = 0</a:t>
            </a:r>
            <a:r>
              <a:rPr sz="1500" b="0" i="0">
                <a:solidFill>
                  <a:srgbClr val="666666"/>
                </a:solidFill>
                <a:latin typeface="Calibri"/>
              </a:rPr>
              <a:t>     d = times a </a:t>
            </a:r>
            <a:r>
              <a:rPr lang="en-US" sz="1500">
                <a:solidFill>
                  <a:srgbClr val="666666"/>
                </a:solidFill>
                <a:latin typeface="Calibri"/>
              </a:rPr>
              <a:t>color</a:t>
            </a:r>
            <a:r>
              <a:rPr sz="1500" b="0" i="0">
                <a:solidFill>
                  <a:srgbClr val="666666"/>
                </a:solidFill>
                <a:latin typeface="Calibri"/>
              </a:rPr>
              <a:t> shows up; solved means every d is 2</a:t>
            </a:r>
            <a:endParaRPr lang="en-US" sz="1500" b="0" i="0">
              <a:solidFill>
                <a:srgbClr val="666666"/>
              </a:solidFill>
              <a:latin typeface="Calibri"/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5068609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48640" y="411480"/>
            <a:ext cx="155448" cy="155448"/>
          </a:xfrm>
          <a:prstGeom prst="roundRect">
            <a:avLst/>
          </a:prstGeom>
          <a:solidFill>
            <a:srgbClr val="D64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48640" y="603504"/>
            <a:ext cx="155448" cy="155448"/>
          </a:xfrm>
          <a:prstGeom prst="roundRect">
            <a:avLst/>
          </a:prstGeom>
          <a:solidFill>
            <a:srgbClr val="2FA9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548640" y="795528"/>
            <a:ext cx="155448" cy="155448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548640" y="987552"/>
            <a:ext cx="155448" cy="155448"/>
          </a:xfrm>
          <a:prstGeom prst="roundRect">
            <a:avLst/>
          </a:prstGeom>
          <a:solidFill>
            <a:srgbClr val="E8B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itle"/>
          <p:cNvSpPr txBox="1"/>
          <p:nvPr/>
        </p:nvSpPr>
        <p:spPr>
          <a:xfrm>
            <a:off x="960120" y="347472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400" b="1" i="0">
                <a:solidFill>
                  <a:srgbClr val="1B2433"/>
                </a:solidFill>
                <a:latin typeface="Cambria"/>
              </a:rPr>
              <a:t>How it works, part 1: start and cost layer</a:t>
            </a:r>
          </a:p>
        </p:txBody>
      </p:sp>
      <p:sp>
        <p:nvSpPr>
          <p:cNvPr id="7" name="Subtitle"/>
          <p:cNvSpPr txBox="1"/>
          <p:nvPr/>
        </p:nvSpPr>
        <p:spPr>
          <a:xfrm>
            <a:off x="960120" y="105156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5B6575"/>
                </a:solidFill>
                <a:latin typeface="Calibri"/>
              </a:rPr>
              <a:t>Prepare all 1,296 legal towers at once, then rotate each one by γ × its cost</a:t>
            </a:r>
          </a:p>
        </p:txBody>
      </p:sp>
      <p:sp>
        <p:nvSpPr>
          <p:cNvPr id="8" name="Start panel"/>
          <p:cNvSpPr/>
          <p:nvPr/>
        </p:nvSpPr>
        <p:spPr>
          <a:xfrm>
            <a:off x="731520" y="1737360"/>
            <a:ext cx="5257800" cy="4434840"/>
          </a:xfrm>
          <a:prstGeom prst="roundRect">
            <a:avLst>
              <a:gd name="adj" fmla="val 2061"/>
            </a:avLst>
          </a:prstGeom>
          <a:solidFill>
            <a:srgbClr val="E8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Oval 8"/>
          <p:cNvSpPr/>
          <p:nvPr/>
        </p:nvSpPr>
        <p:spPr>
          <a:xfrm>
            <a:off x="932688" y="1920240"/>
            <a:ext cx="384048" cy="384048"/>
          </a:xfrm>
          <a:prstGeom prst="ellipse">
            <a:avLst/>
          </a:prstGeom>
          <a:solidFill>
            <a:srgbClr val="0E9488"/>
          </a:solidFill>
          <a:ln>
            <a:noFill/>
          </a:ln>
        </p:spPr>
        <p:txBody>
          <a:bodyPr lIns="0" tIns="0" rIns="0" bIns="0"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44752" y="1956815"/>
            <a:ext cx="4343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B2433"/>
                </a:solidFill>
                <a:latin typeface="Calibri"/>
              </a:rPr>
              <a:t>Start: every legal choice at once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423160"/>
            <a:ext cx="480060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B2433"/>
                </a:solidFill>
                <a:latin typeface="Calibri"/>
              </a:rPr>
              <a:t>RY(1.23) on q2: </a:t>
            </a:r>
            <a:r>
              <a:rPr sz="1300" b="0" i="0">
                <a:solidFill>
                  <a:srgbClr val="5B6575"/>
                </a:solidFill>
                <a:latin typeface="Calibri"/>
              </a:rPr>
              <a:t>leading bit 0 with chance 4/6 (codes 0–3), 1 with chance 2/6 (codes 4 and 5)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026664"/>
            <a:ext cx="480060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B2433"/>
                </a:solidFill>
                <a:latin typeface="Calibri"/>
              </a:rPr>
              <a:t>H on q1, only if q2 = 0: </a:t>
            </a:r>
            <a:r>
              <a:rPr sz="1300" b="0" i="0">
                <a:solidFill>
                  <a:srgbClr val="5B6575"/>
                </a:solidFill>
                <a:latin typeface="Calibri"/>
              </a:rPr>
              <a:t>the middle bit is free only when the leading bit is 0, so 110 and 111 never appear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630168"/>
            <a:ext cx="480060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B2433"/>
                </a:solidFill>
                <a:latin typeface="Calibri"/>
              </a:rPr>
              <a:t>H on q0: </a:t>
            </a:r>
            <a:r>
              <a:rPr sz="1300" b="0" i="0">
                <a:solidFill>
                  <a:srgbClr val="5B6575"/>
                </a:solidFill>
                <a:latin typeface="Calibri"/>
              </a:rPr>
              <a:t>the last bit is always free, so every branch splits in half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97280" y="4251960"/>
            <a:ext cx="457200" cy="1051560"/>
          </a:xfrm>
          <a:prstGeom prst="rect">
            <a:avLst/>
          </a:prstGeom>
          <a:solidFill>
            <a:srgbClr val="0E9488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42416" y="4005072"/>
            <a:ext cx="566928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1" i="0">
                <a:solidFill>
                  <a:srgbClr val="1B2433"/>
                </a:solidFill>
                <a:latin typeface="Calibri"/>
              </a:rPr>
              <a:t>1/6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4128" y="5349240"/>
            <a:ext cx="603504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 i="0">
                <a:solidFill>
                  <a:srgbClr val="1B2433"/>
                </a:solidFill>
                <a:latin typeface="Calibri"/>
              </a:rPr>
              <a:t>000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673352" y="4251960"/>
            <a:ext cx="457200" cy="1051560"/>
          </a:xfrm>
          <a:prstGeom prst="rect">
            <a:avLst/>
          </a:prstGeom>
          <a:solidFill>
            <a:srgbClr val="0E9488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618488" y="4005072"/>
            <a:ext cx="566928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1" i="0">
                <a:solidFill>
                  <a:srgbClr val="1B2433"/>
                </a:solidFill>
                <a:latin typeface="Calibri"/>
              </a:rPr>
              <a:t>1/6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00200" y="5349240"/>
            <a:ext cx="603504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 i="0">
                <a:solidFill>
                  <a:srgbClr val="1B2433"/>
                </a:solidFill>
                <a:latin typeface="Calibri"/>
              </a:rPr>
              <a:t>001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49424" y="4251960"/>
            <a:ext cx="457200" cy="1051560"/>
          </a:xfrm>
          <a:prstGeom prst="rect">
            <a:avLst/>
          </a:prstGeom>
          <a:solidFill>
            <a:srgbClr val="0E9488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2194560" y="4005072"/>
            <a:ext cx="566928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1" i="0">
                <a:solidFill>
                  <a:srgbClr val="1B2433"/>
                </a:solidFill>
                <a:latin typeface="Calibri"/>
              </a:rPr>
              <a:t>1/6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76272" y="5349240"/>
            <a:ext cx="603504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 i="0">
                <a:solidFill>
                  <a:srgbClr val="1B2433"/>
                </a:solidFill>
                <a:latin typeface="Calibri"/>
              </a:rPr>
              <a:t>010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825496" y="4251960"/>
            <a:ext cx="457200" cy="1051560"/>
          </a:xfrm>
          <a:prstGeom prst="rect">
            <a:avLst/>
          </a:prstGeom>
          <a:solidFill>
            <a:srgbClr val="0E9488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2770632" y="4005072"/>
            <a:ext cx="566928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1" i="0">
                <a:solidFill>
                  <a:srgbClr val="1B2433"/>
                </a:solidFill>
                <a:latin typeface="Calibri"/>
              </a:rPr>
              <a:t>1/6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52344" y="5349240"/>
            <a:ext cx="603504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 i="0">
                <a:solidFill>
                  <a:srgbClr val="1B2433"/>
                </a:solidFill>
                <a:latin typeface="Calibri"/>
              </a:rPr>
              <a:t>011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01568" y="4251960"/>
            <a:ext cx="457200" cy="1051560"/>
          </a:xfrm>
          <a:prstGeom prst="rect">
            <a:avLst/>
          </a:prstGeom>
          <a:solidFill>
            <a:srgbClr val="0E9488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346704" y="4005072"/>
            <a:ext cx="566928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1" i="0">
                <a:solidFill>
                  <a:srgbClr val="1B2433"/>
                </a:solidFill>
                <a:latin typeface="Calibri"/>
              </a:rPr>
              <a:t>1/6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328416" y="5349240"/>
            <a:ext cx="603504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 i="0">
                <a:solidFill>
                  <a:srgbClr val="1B2433"/>
                </a:solidFill>
                <a:latin typeface="Calibri"/>
              </a:rPr>
              <a:t>100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977639" y="4251960"/>
            <a:ext cx="457200" cy="1051560"/>
          </a:xfrm>
          <a:prstGeom prst="rect">
            <a:avLst/>
          </a:prstGeom>
          <a:solidFill>
            <a:srgbClr val="0E9488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3922776" y="4005072"/>
            <a:ext cx="566928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1" i="0">
                <a:solidFill>
                  <a:srgbClr val="1B2433"/>
                </a:solidFill>
                <a:latin typeface="Calibri"/>
              </a:rPr>
              <a:t>1/6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04487" y="5349240"/>
            <a:ext cx="603504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 i="0">
                <a:solidFill>
                  <a:srgbClr val="1B2433"/>
                </a:solidFill>
                <a:latin typeface="Calibri"/>
              </a:rPr>
              <a:t>101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53712" y="5257800"/>
            <a:ext cx="457200" cy="45720"/>
          </a:xfrm>
          <a:prstGeom prst="rect">
            <a:avLst/>
          </a:prstGeom>
          <a:solidFill>
            <a:srgbClr val="C9D3DD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4498848" y="5010912"/>
            <a:ext cx="566928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 i="0">
                <a:solidFill>
                  <a:srgbClr val="5B6575"/>
                </a:solidFill>
                <a:latin typeface="Calibri"/>
              </a:rPr>
              <a:t>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80560" y="5349240"/>
            <a:ext cx="603504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 i="0">
                <a:solidFill>
                  <a:srgbClr val="1B2433"/>
                </a:solidFill>
                <a:latin typeface="Calibri"/>
              </a:rPr>
              <a:t>110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129784" y="5257800"/>
            <a:ext cx="457200" cy="45720"/>
          </a:xfrm>
          <a:prstGeom prst="rect">
            <a:avLst/>
          </a:prstGeom>
          <a:solidFill>
            <a:srgbClr val="C9D3DD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5074920" y="5010912"/>
            <a:ext cx="566928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 i="0">
                <a:solidFill>
                  <a:srgbClr val="5B6575"/>
                </a:solidFill>
                <a:latin typeface="Calibri"/>
              </a:rPr>
              <a:t>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56632" y="5349240"/>
            <a:ext cx="603504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 i="0">
                <a:solidFill>
                  <a:srgbClr val="1B2433"/>
                </a:solidFill>
                <a:latin typeface="Calibri"/>
              </a:rPr>
              <a:t>111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0120" y="5623560"/>
            <a:ext cx="48006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1B2433"/>
                </a:solidFill>
                <a:latin typeface="Calibri"/>
              </a:rPr>
              <a:t>Check: </a:t>
            </a:r>
            <a:r>
              <a:rPr sz="1100" b="0" i="0">
                <a:solidFill>
                  <a:srgbClr val="5B6575"/>
                </a:solidFill>
                <a:latin typeface="Calibri"/>
              </a:rPr>
              <a:t>4/6 × ½ × ½ and 2/6 × ½ both give 1/6. A Hadamard on every qubit would instead waste a quarter of all shots on codes 6 and 7.</a:t>
            </a:r>
          </a:p>
        </p:txBody>
      </p:sp>
      <p:sp>
        <p:nvSpPr>
          <p:cNvPr id="39" name="Cost panel"/>
          <p:cNvSpPr/>
          <p:nvPr/>
        </p:nvSpPr>
        <p:spPr>
          <a:xfrm>
            <a:off x="6217920" y="1737360"/>
            <a:ext cx="5257800" cy="4434840"/>
          </a:xfrm>
          <a:prstGeom prst="roundRect">
            <a:avLst>
              <a:gd name="adj" fmla="val 2061"/>
            </a:avLst>
          </a:prstGeom>
          <a:solidFill>
            <a:srgbClr val="E8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0" name="Oval 39"/>
          <p:cNvSpPr/>
          <p:nvPr/>
        </p:nvSpPr>
        <p:spPr>
          <a:xfrm>
            <a:off x="6419088" y="1920240"/>
            <a:ext cx="384048" cy="384048"/>
          </a:xfrm>
          <a:prstGeom prst="ellipse">
            <a:avLst/>
          </a:prstGeom>
          <a:solidFill>
            <a:srgbClr val="0E9488"/>
          </a:solidFill>
          <a:ln>
            <a:noFill/>
          </a:ln>
        </p:spPr>
        <p:txBody>
          <a:bodyPr lIns="0" tIns="0" rIns="0" bIns="0"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31152" y="1956815"/>
            <a:ext cx="4343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B2433"/>
                </a:solidFill>
                <a:latin typeface="Calibri"/>
              </a:rPr>
              <a:t>Cost layer: tag every tower with a phase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46520" y="2414016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0E9488"/>
                </a:solidFill>
                <a:latin typeface="Calibri"/>
              </a:rPr>
              <a:t>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720840" y="2395728"/>
            <a:ext cx="4526280" cy="2000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B2433"/>
                </a:solidFill>
                <a:latin typeface="Calibri"/>
              </a:rPr>
              <a:t>Rule: </a:t>
            </a:r>
            <a:r>
              <a:rPr sz="1300" b="0" i="0">
                <a:solidFill>
                  <a:srgbClr val="5B6575"/>
                </a:solidFill>
                <a:latin typeface="Calibri"/>
              </a:rPr>
              <a:t>every </a:t>
            </a:r>
            <a:r>
              <a:rPr lang="en-US" sz="1300">
                <a:solidFill>
                  <a:srgbClr val="5B6575"/>
                </a:solidFill>
                <a:latin typeface="Calibri"/>
              </a:rPr>
              <a:t>color</a:t>
            </a:r>
            <a:r>
              <a:rPr sz="1300" b="0" i="0">
                <a:solidFill>
                  <a:srgbClr val="5B6575"/>
                </a:solidFill>
                <a:latin typeface="Calibri"/>
              </a:rPr>
              <a:t> exactly twice on each side, C = Σ (d − 2)²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46520" y="2980944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0E9488"/>
                </a:solidFill>
                <a:latin typeface="Calibri"/>
              </a:rPr>
              <a:t>b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720840" y="2962656"/>
            <a:ext cx="4526280" cy="4001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B2433"/>
                </a:solidFill>
                <a:latin typeface="Calibri"/>
              </a:rPr>
              <a:t>Same thing as clashes: </a:t>
            </a:r>
            <a:r>
              <a:rPr sz="1300" b="0" i="0">
                <a:solidFill>
                  <a:srgbClr val="5B6575"/>
                </a:solidFill>
                <a:latin typeface="Calibri"/>
              </a:rPr>
              <a:t>C = 2 × (</a:t>
            </a:r>
            <a:r>
              <a:rPr lang="en-US" sz="1300">
                <a:solidFill>
                  <a:srgbClr val="5B6575"/>
                </a:solidFill>
                <a:latin typeface="Calibri"/>
              </a:rPr>
              <a:t>same-color</a:t>
            </a:r>
            <a:r>
              <a:rPr sz="1300" b="0" i="0">
                <a:solidFill>
                  <a:srgbClr val="5B6575"/>
                </a:solidFill>
                <a:latin typeface="Calibri"/>
              </a:rPr>
              <a:t> face pairs on a side) − 16. A clash involves one or two cubes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46520" y="3547872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0E9488"/>
                </a:solidFill>
                <a:latin typeface="Calibri"/>
              </a:rPr>
              <a:t>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720840" y="3529584"/>
            <a:ext cx="4526280" cy="4001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B2433"/>
                </a:solidFill>
                <a:latin typeface="Calibri"/>
              </a:rPr>
              <a:t>In qubit parities: </a:t>
            </a:r>
            <a:r>
              <a:rPr sz="1300" b="0" i="0">
                <a:solidFill>
                  <a:srgbClr val="5B6575"/>
                </a:solidFill>
                <a:latin typeface="Calibri"/>
              </a:rPr>
              <a:t>C = constant + Σ J · Z…Z, 164 terms with weights J fixed by the </a:t>
            </a:r>
            <a:r>
              <a:rPr lang="en-US" sz="1300">
                <a:solidFill>
                  <a:srgbClr val="5B6575"/>
                </a:solidFill>
                <a:latin typeface="Calibri"/>
              </a:rPr>
              <a:t>colors</a:t>
            </a:r>
            <a:endParaRPr lang="en-US" sz="1300" b="0" i="0">
              <a:solidFill>
                <a:srgbClr val="5B6575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6446520" y="4114800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0E9488"/>
                </a:solidFill>
                <a:latin typeface="Calibri"/>
              </a:rPr>
              <a:t>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720840" y="4096512"/>
            <a:ext cx="45262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B2433"/>
                </a:solidFill>
                <a:latin typeface="Calibri"/>
              </a:rPr>
              <a:t>One gate group per term: </a:t>
            </a:r>
            <a:r>
              <a:rPr sz="1300" b="0" i="0">
                <a:solidFill>
                  <a:srgbClr val="5B6575"/>
                </a:solidFill>
                <a:latin typeface="Calibri"/>
              </a:rPr>
              <a:t>CNOTs gather the parity onto one qubit, RZ(2γJ) adds the phase, CNOTs undo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446520" y="4681728"/>
            <a:ext cx="2743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1">
                <a:solidFill>
                  <a:srgbClr val="5B6575"/>
                </a:solidFill>
                <a:latin typeface="Calibri"/>
              </a:rPr>
              <a:t>qa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6720840" y="4800600"/>
            <a:ext cx="2377440" cy="0"/>
          </a:xfrm>
          <a:prstGeom prst="line">
            <a:avLst/>
          </a:prstGeom>
          <a:ln w="12700">
            <a:solidFill>
              <a:srgbClr val="5B65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6446520" y="5093207"/>
            <a:ext cx="2743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1">
                <a:solidFill>
                  <a:srgbClr val="5B6575"/>
                </a:solidFill>
                <a:latin typeface="Calibri"/>
              </a:rPr>
              <a:t>qb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6720840" y="5212079"/>
            <a:ext cx="2377440" cy="0"/>
          </a:xfrm>
          <a:prstGeom prst="line">
            <a:avLst/>
          </a:prstGeom>
          <a:ln w="12700">
            <a:solidFill>
              <a:srgbClr val="5B65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7040879" y="4800600"/>
            <a:ext cx="0" cy="411479"/>
          </a:xfrm>
          <a:prstGeom prst="line">
            <a:avLst/>
          </a:prstGeom>
          <a:ln w="19050">
            <a:solidFill>
              <a:srgbClr val="3B82F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Oval 54"/>
          <p:cNvSpPr/>
          <p:nvPr/>
        </p:nvSpPr>
        <p:spPr>
          <a:xfrm>
            <a:off x="6986016" y="4745736"/>
            <a:ext cx="109728" cy="109728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56" name="Oval 55"/>
          <p:cNvSpPr/>
          <p:nvPr/>
        </p:nvSpPr>
        <p:spPr>
          <a:xfrm>
            <a:off x="6922007" y="5093207"/>
            <a:ext cx="237744" cy="237744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6922007" y="5093207"/>
            <a:ext cx="237744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+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8778240" y="4800600"/>
            <a:ext cx="0" cy="411479"/>
          </a:xfrm>
          <a:prstGeom prst="line">
            <a:avLst/>
          </a:prstGeom>
          <a:ln w="19050">
            <a:solidFill>
              <a:srgbClr val="3B82F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Oval 58"/>
          <p:cNvSpPr/>
          <p:nvPr/>
        </p:nvSpPr>
        <p:spPr>
          <a:xfrm>
            <a:off x="8723376" y="4745736"/>
            <a:ext cx="109728" cy="109728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60" name="Oval 59"/>
          <p:cNvSpPr/>
          <p:nvPr/>
        </p:nvSpPr>
        <p:spPr>
          <a:xfrm>
            <a:off x="8659367" y="5093207"/>
            <a:ext cx="237744" cy="237744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8659367" y="5093207"/>
            <a:ext cx="237744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+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7452359" y="5038343"/>
            <a:ext cx="914400" cy="347472"/>
          </a:xfrm>
          <a:prstGeom prst="roundRect">
            <a:avLst>
              <a:gd name="adj" fmla="val 12000"/>
            </a:avLst>
          </a:prstGeom>
          <a:solidFill>
            <a:srgbClr val="C2408A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7452359" y="5038343"/>
            <a:ext cx="91440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RZ(2γJ)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326880" y="4617720"/>
            <a:ext cx="19659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1B2433"/>
                </a:solidFill>
                <a:latin typeface="Calibri"/>
              </a:rPr>
              <a:t>Bits agree: </a:t>
            </a:r>
            <a:r>
              <a:rPr sz="1100" b="0" i="0">
                <a:solidFill>
                  <a:srgbClr val="5B6575"/>
                </a:solidFill>
                <a:latin typeface="Calibri"/>
              </a:rPr>
              <a:t>phase −γJ</a:t>
            </a:r>
          </a:p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1B2433"/>
                </a:solidFill>
                <a:latin typeface="Calibri"/>
              </a:rPr>
              <a:t>Bits differ: </a:t>
            </a:r>
            <a:r>
              <a:rPr sz="1100" b="0" i="0">
                <a:solidFill>
                  <a:srgbClr val="5B6575"/>
                </a:solidFill>
                <a:latin typeface="Calibri"/>
              </a:rPr>
              <a:t>phase +γJ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5B6575"/>
                </a:solidFill>
                <a:latin typeface="Calibri"/>
              </a:rPr>
              <a:t>No bit changes, only the phase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446520" y="5623560"/>
            <a:ext cx="48006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0E9488"/>
                </a:solidFill>
                <a:latin typeface="Calibri"/>
              </a:rPr>
              <a:t>Net effect: </a:t>
            </a:r>
            <a:r>
              <a:rPr sz="1100" b="0" i="0">
                <a:solidFill>
                  <a:srgbClr val="0E9488"/>
                </a:solidFill>
                <a:latin typeface="Calibri"/>
              </a:rPr>
              <a:t>every tower turned by −γ × its cost; no probability moves yet. Most of the ~550 CNOTs per layer are here.</a:t>
            </a:r>
          </a:p>
        </p:txBody>
      </p:sp>
    </p:spTree>
    <p:extLst>
      <p:ext uri="{BB962C8B-B14F-4D97-AF65-F5344CB8AC3E}">
        <p14:creationId xmlns:p14="http://schemas.microsoft.com/office/powerpoint/2010/main" val="134879754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48640" y="411480"/>
            <a:ext cx="155448" cy="155448"/>
          </a:xfrm>
          <a:prstGeom prst="roundRect">
            <a:avLst/>
          </a:prstGeom>
          <a:solidFill>
            <a:srgbClr val="D64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48640" y="603504"/>
            <a:ext cx="155448" cy="155448"/>
          </a:xfrm>
          <a:prstGeom prst="roundRect">
            <a:avLst/>
          </a:prstGeom>
          <a:solidFill>
            <a:srgbClr val="2FA9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548640" y="795528"/>
            <a:ext cx="155448" cy="155448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548640" y="987552"/>
            <a:ext cx="155448" cy="155448"/>
          </a:xfrm>
          <a:prstGeom prst="roundRect">
            <a:avLst/>
          </a:prstGeom>
          <a:solidFill>
            <a:srgbClr val="E8B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itle"/>
          <p:cNvSpPr txBox="1"/>
          <p:nvPr/>
        </p:nvSpPr>
        <p:spPr>
          <a:xfrm>
            <a:off x="960120" y="347472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400" b="1" i="0">
                <a:solidFill>
                  <a:srgbClr val="1B2433"/>
                </a:solidFill>
                <a:latin typeface="Cambria"/>
              </a:rPr>
              <a:t>How it works, part 2: mix, tune and measure</a:t>
            </a:r>
          </a:p>
        </p:txBody>
      </p:sp>
      <p:sp>
        <p:nvSpPr>
          <p:cNvPr id="7" name="Subtitle"/>
          <p:cNvSpPr txBox="1"/>
          <p:nvPr/>
        </p:nvSpPr>
        <p:spPr>
          <a:xfrm>
            <a:off x="960120" y="105156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5B6575"/>
                </a:solidFill>
                <a:latin typeface="Calibri"/>
              </a:rPr>
              <a:t>Per cube: undo the start, phase |000⟩, redo the start. Angles are tuned classically; every shot is checked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737360"/>
            <a:ext cx="6309360" cy="1733599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1530551" y="3525823"/>
            <a:ext cx="825523" cy="292608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5B6575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530551" y="3525823"/>
            <a:ext cx="825523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1" i="0">
                <a:solidFill>
                  <a:srgbClr val="5B6575"/>
                </a:solidFill>
                <a:latin typeface="Calibri"/>
              </a:rPr>
              <a:t>Start (once)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8497" y="3525823"/>
            <a:ext cx="855006" cy="292608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E9488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358497" y="3525823"/>
            <a:ext cx="855006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1" i="0">
                <a:solidFill>
                  <a:srgbClr val="0E9488"/>
                </a:solidFill>
                <a:latin typeface="Calibri"/>
              </a:rPr>
              <a:t>Undo start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72469" y="3525823"/>
            <a:ext cx="1710013" cy="292608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E9488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272469" y="3525823"/>
            <a:ext cx="1710013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1" i="0">
                <a:solidFill>
                  <a:srgbClr val="0E9488"/>
                </a:solidFill>
                <a:latin typeface="Calibri"/>
              </a:rPr>
              <a:t>Phase on |000⟩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11966" y="3525823"/>
            <a:ext cx="943455" cy="292608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E9488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011966" y="3525823"/>
            <a:ext cx="943455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1" i="0">
                <a:solidFill>
                  <a:srgbClr val="0E9488"/>
                </a:solidFill>
                <a:latin typeface="Calibri"/>
              </a:rPr>
              <a:t>Redo start</a:t>
            </a:r>
          </a:p>
        </p:txBody>
      </p:sp>
      <p:sp>
        <p:nvSpPr>
          <p:cNvPr id="17" name="Mixer panel"/>
          <p:cNvSpPr/>
          <p:nvPr/>
        </p:nvSpPr>
        <p:spPr>
          <a:xfrm>
            <a:off x="731520" y="3977639"/>
            <a:ext cx="6492240" cy="2194560"/>
          </a:xfrm>
          <a:prstGeom prst="roundRect">
            <a:avLst>
              <a:gd name="adj" fmla="val 4166"/>
            </a:avLst>
          </a:prstGeom>
          <a:solidFill>
            <a:srgbClr val="E8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Oval 17"/>
          <p:cNvSpPr/>
          <p:nvPr/>
        </p:nvSpPr>
        <p:spPr>
          <a:xfrm>
            <a:off x="932688" y="4160520"/>
            <a:ext cx="384048" cy="384048"/>
          </a:xfrm>
          <a:prstGeom prst="ellipse">
            <a:avLst/>
          </a:prstGeom>
          <a:solidFill>
            <a:srgbClr val="0E9488"/>
          </a:solidFill>
          <a:ln>
            <a:noFill/>
          </a:ln>
        </p:spPr>
        <p:txBody>
          <a:bodyPr lIns="0" tIns="0" rIns="0" bIns="0"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44752" y="4197096"/>
            <a:ext cx="55778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B2433"/>
                </a:solidFill>
                <a:latin typeface="Calibri"/>
              </a:rPr>
              <a:t>Mixer: turn phases into probability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4636007"/>
            <a:ext cx="6080760" cy="1508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B2433"/>
                </a:solidFill>
                <a:latin typeface="Calibri"/>
              </a:rPr>
              <a:t>Undo the start: </a:t>
            </a:r>
            <a:r>
              <a:rPr sz="1300" b="0" i="0">
                <a:solidFill>
                  <a:srgbClr val="5B6575"/>
                </a:solidFill>
                <a:latin typeface="Calibri"/>
              </a:rPr>
              <a:t>the cube’s ‘average’ part is packed into |000⟩.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B2433"/>
                </a:solidFill>
                <a:latin typeface="Calibri"/>
              </a:rPr>
              <a:t>Phase on |000⟩ only: </a:t>
            </a:r>
            <a:r>
              <a:rPr sz="1300" b="0" i="0">
                <a:solidFill>
                  <a:srgbClr val="5B6575"/>
                </a:solidFill>
                <a:latin typeface="Calibri"/>
              </a:rPr>
              <a:t>X gates make it |111⟩, the blue gate multiplies it by e^(−iβ), X gates turn it back.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B2433"/>
                </a:solidFill>
                <a:latin typeface="Calibri"/>
              </a:rPr>
              <a:t>Redo the start: </a:t>
            </a:r>
            <a:r>
              <a:rPr sz="1300" b="0" i="0">
                <a:solidFill>
                  <a:srgbClr val="5B6575"/>
                </a:solidFill>
                <a:latin typeface="Calibri"/>
              </a:rPr>
              <a:t>back on codes 0–5 with sizes changed; codes 6 and 7 stay empty.</a:t>
            </a:r>
          </a:p>
          <a:p>
            <a:pPr algn="l">
              <a:spcAft>
                <a:spcPts val="400"/>
              </a:spcAft>
            </a:pPr>
            <a:r>
              <a:rPr sz="1300" b="0" i="1">
                <a:solidFill>
                  <a:srgbClr val="0E9488"/>
                </a:solidFill>
                <a:latin typeface="Cambria"/>
              </a:rPr>
              <a:t>new = old + (e^(−iβ) − 1) × average</a:t>
            </a:r>
            <a:r>
              <a:rPr sz="1300" b="0" i="0">
                <a:solidFill>
                  <a:srgbClr val="5B6575"/>
                </a:solidFill>
                <a:latin typeface="Calibri"/>
              </a:rPr>
              <a:t>: codes in line with the push grow. γ = 0 moves nothing; flipping β’s sign grows costly towers.</a:t>
            </a:r>
          </a:p>
        </p:txBody>
      </p:sp>
      <p:sp>
        <p:nvSpPr>
          <p:cNvPr id="21" name="Tune panel"/>
          <p:cNvSpPr/>
          <p:nvPr/>
        </p:nvSpPr>
        <p:spPr>
          <a:xfrm>
            <a:off x="7452360" y="1737360"/>
            <a:ext cx="4005072" cy="2103120"/>
          </a:xfrm>
          <a:prstGeom prst="roundRect">
            <a:avLst>
              <a:gd name="adj" fmla="val 4347"/>
            </a:avLst>
          </a:prstGeom>
          <a:solidFill>
            <a:srgbClr val="E8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680960" y="1920240"/>
            <a:ext cx="3547872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B2433"/>
                </a:solidFill>
                <a:latin typeface="Calibri"/>
              </a:rPr>
              <a:t>Tuning: 24 angles at p = 12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80960" y="2377440"/>
            <a:ext cx="3593591" cy="1417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B2433"/>
                </a:solidFill>
                <a:latin typeface="Calibri"/>
              </a:rPr>
              <a:t>Loop: </a:t>
            </a:r>
            <a:r>
              <a:rPr sz="1300" b="0" i="0">
                <a:solidFill>
                  <a:srgbClr val="5B6575"/>
                </a:solidFill>
                <a:latin typeface="Calibri"/>
              </a:rPr>
              <a:t>try angles → simulate → score by average cost → optimizer adjusts.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B2433"/>
                </a:solidFill>
                <a:latin typeface="Calibri"/>
              </a:rPr>
              <a:t>INTERP: </a:t>
            </a:r>
            <a:r>
              <a:rPr sz="1300" b="0" i="0">
                <a:solidFill>
                  <a:srgbClr val="5B6575"/>
                </a:solidFill>
                <a:latin typeface="Calibri"/>
              </a:rPr>
              <a:t>tune p = 1, stretch into a guess for p = 2, tune, … up to 12.</a:t>
            </a:r>
          </a:p>
          <a:p>
            <a:pPr algn="l">
              <a:spcAft>
                <a:spcPts val="400"/>
              </a:spcAft>
            </a:pPr>
            <a:r>
              <a:rPr sz="1300" b="0" i="1">
                <a:solidFill>
                  <a:srgbClr val="0E9488"/>
                </a:solidFill>
                <a:latin typeface="Calibri"/>
              </a:rPr>
              <a:t>The answer is never used, only the average cost.</a:t>
            </a:r>
          </a:p>
        </p:txBody>
      </p:sp>
      <p:sp>
        <p:nvSpPr>
          <p:cNvPr id="24" name="Measure panel"/>
          <p:cNvSpPr/>
          <p:nvPr/>
        </p:nvSpPr>
        <p:spPr>
          <a:xfrm>
            <a:off x="7452360" y="3977639"/>
            <a:ext cx="4005072" cy="2194560"/>
          </a:xfrm>
          <a:prstGeom prst="roundRect">
            <a:avLst>
              <a:gd name="adj" fmla="val 4166"/>
            </a:avLst>
          </a:prstGeom>
          <a:solidFill>
            <a:srgbClr val="E8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5" name="Oval 24"/>
          <p:cNvSpPr/>
          <p:nvPr/>
        </p:nvSpPr>
        <p:spPr>
          <a:xfrm>
            <a:off x="7653528" y="4160520"/>
            <a:ext cx="384048" cy="384048"/>
          </a:xfrm>
          <a:prstGeom prst="ellipse">
            <a:avLst/>
          </a:prstGeom>
          <a:solidFill>
            <a:srgbClr val="0E9488"/>
          </a:solidFill>
          <a:ln>
            <a:noFill/>
          </a:ln>
        </p:spPr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4–5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65592" y="4197096"/>
            <a:ext cx="3090672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B2433"/>
                </a:solidFill>
                <a:latin typeface="Calibri"/>
              </a:rPr>
              <a:t>Measure and check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680960" y="4681728"/>
            <a:ext cx="804672" cy="384048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0E9488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680960" y="4681728"/>
            <a:ext cx="804672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 i="0">
                <a:solidFill>
                  <a:srgbClr val="1B2433"/>
                </a:solidFill>
                <a:latin typeface="Courier New"/>
              </a:rPr>
              <a:t>010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80960" y="5084064"/>
            <a:ext cx="80467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 i="0">
                <a:solidFill>
                  <a:srgbClr val="5B6575"/>
                </a:solidFill>
                <a:latin typeface="Calibri"/>
              </a:rPr>
              <a:t>Cube 4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595360" y="4681728"/>
            <a:ext cx="804672" cy="384048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0E9488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595360" y="4681728"/>
            <a:ext cx="804672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 i="0">
                <a:solidFill>
                  <a:srgbClr val="1B2433"/>
                </a:solidFill>
                <a:latin typeface="Courier New"/>
              </a:rPr>
              <a:t>101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95360" y="5084064"/>
            <a:ext cx="80467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 i="0">
                <a:solidFill>
                  <a:srgbClr val="5B6575"/>
                </a:solidFill>
                <a:latin typeface="Calibri"/>
              </a:rPr>
              <a:t>Cube 3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509760" y="4681728"/>
            <a:ext cx="804672" cy="384048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0E9488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9509760" y="4681728"/>
            <a:ext cx="804672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 i="0">
                <a:solidFill>
                  <a:srgbClr val="1B2433"/>
                </a:solidFill>
                <a:latin typeface="Courier New"/>
              </a:rPr>
              <a:t>011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09760" y="5084064"/>
            <a:ext cx="80467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 i="0">
                <a:solidFill>
                  <a:srgbClr val="5B6575"/>
                </a:solidFill>
                <a:latin typeface="Calibri"/>
              </a:rPr>
              <a:t>Cube 2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424160" y="4681728"/>
            <a:ext cx="804672" cy="384048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0E9488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10424160" y="4681728"/>
            <a:ext cx="804672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 i="0">
                <a:solidFill>
                  <a:srgbClr val="1B2433"/>
                </a:solidFill>
                <a:latin typeface="Courier New"/>
              </a:rPr>
              <a:t>001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24160" y="5084064"/>
            <a:ext cx="80467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 i="0">
                <a:solidFill>
                  <a:srgbClr val="5B6575"/>
                </a:solidFill>
                <a:latin typeface="Calibri"/>
              </a:rPr>
              <a:t>Cube 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680960" y="5340096"/>
            <a:ext cx="354787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1">
                <a:solidFill>
                  <a:srgbClr val="5B6575"/>
                </a:solidFill>
                <a:latin typeface="Calibri"/>
              </a:rPr>
              <a:t>Example shot. Qubit 0 is rightmost; each code gives the front/back and left/right pairs; solves() checks it.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80960" y="5687568"/>
            <a:ext cx="109728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 i="0">
                <a:solidFill>
                  <a:srgbClr val="0E9488"/>
                </a:solidFill>
                <a:latin typeface="Cambria"/>
              </a:rPr>
              <a:t>70%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86800" y="5687568"/>
            <a:ext cx="2587752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5B6575"/>
                </a:solidFill>
                <a:latin typeface="Calibri"/>
              </a:rPr>
              <a:t>of shots are the solved tower at p = 12</a:t>
            </a:r>
          </a:p>
        </p:txBody>
      </p:sp>
    </p:spTree>
    <p:extLst>
      <p:ext uri="{BB962C8B-B14F-4D97-AF65-F5344CB8AC3E}">
        <p14:creationId xmlns:p14="http://schemas.microsoft.com/office/powerpoint/2010/main" val="9651820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48640" y="411480"/>
            <a:ext cx="155448" cy="155448"/>
          </a:xfrm>
          <a:prstGeom prst="roundRect">
            <a:avLst/>
          </a:prstGeom>
          <a:solidFill>
            <a:srgbClr val="D64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48640" y="603504"/>
            <a:ext cx="155448" cy="155448"/>
          </a:xfrm>
          <a:prstGeom prst="roundRect">
            <a:avLst/>
          </a:prstGeom>
          <a:solidFill>
            <a:srgbClr val="2FA9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548640" y="795528"/>
            <a:ext cx="155448" cy="155448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548640" y="987552"/>
            <a:ext cx="155448" cy="155448"/>
          </a:xfrm>
          <a:prstGeom prst="roundRect">
            <a:avLst/>
          </a:prstGeom>
          <a:solidFill>
            <a:srgbClr val="E8B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itle"/>
          <p:cNvSpPr txBox="1"/>
          <p:nvPr/>
        </p:nvSpPr>
        <p:spPr>
          <a:xfrm>
            <a:off x="960120" y="347472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400" b="1" i="0">
                <a:solidFill>
                  <a:srgbClr val="1B2433"/>
                </a:solidFill>
                <a:latin typeface="Cambria"/>
              </a:rPr>
              <a:t>Classical checks before any claim</a:t>
            </a:r>
          </a:p>
        </p:txBody>
      </p:sp>
      <p:sp>
        <p:nvSpPr>
          <p:cNvPr id="7" name="Subtitle"/>
          <p:cNvSpPr txBox="1"/>
          <p:nvPr/>
        </p:nvSpPr>
        <p:spPr>
          <a:xfrm>
            <a:off x="960120" y="105156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5B6575"/>
                </a:solidFill>
                <a:latin typeface="Calibri"/>
              </a:rPr>
              <a:t>Every check is an assert in the notebook, all pass, and each one guards against a specific bug</a:t>
            </a:r>
          </a:p>
        </p:txBody>
      </p:sp>
      <p:sp>
        <p:nvSpPr>
          <p:cNvPr id="8" name="Check 1"/>
          <p:cNvSpPr/>
          <p:nvPr/>
        </p:nvSpPr>
        <p:spPr>
          <a:xfrm>
            <a:off x="731520" y="1737360"/>
            <a:ext cx="5257800" cy="1371600"/>
          </a:xfrm>
          <a:prstGeom prst="roundRect">
            <a:avLst>
              <a:gd name="adj" fmla="val 6666"/>
            </a:avLst>
          </a:prstGeom>
          <a:solidFill>
            <a:srgbClr val="E8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Oval 8"/>
          <p:cNvSpPr/>
          <p:nvPr/>
        </p:nvSpPr>
        <p:spPr>
          <a:xfrm>
            <a:off x="960120" y="2167128"/>
            <a:ext cx="502920" cy="502920"/>
          </a:xfrm>
          <a:prstGeom prst="ellipse">
            <a:avLst/>
          </a:prstGeom>
          <a:solidFill>
            <a:srgbClr val="0E9488"/>
          </a:solidFill>
          <a:ln>
            <a:noFill/>
          </a:ln>
        </p:spPr>
        <p:txBody>
          <a:bodyPr lIns="0" tIns="0" rIns="0" b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1865376"/>
            <a:ext cx="41148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B2433"/>
                </a:solidFill>
                <a:latin typeface="Calibri"/>
              </a:rPr>
              <a:t>H = classical cost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2167128"/>
            <a:ext cx="4114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5B6575"/>
                </a:solidFill>
                <a:latin typeface="Calibri"/>
              </a:rPr>
              <a:t>On all 1,296 valid states (N ≤ 6: all; N = 7, 8: 3,000 random). Largest gap 0.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2688336"/>
            <a:ext cx="4114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0E9488"/>
                </a:solidFill>
                <a:latin typeface="Calibri"/>
              </a:rPr>
              <a:t>Catches: </a:t>
            </a:r>
            <a:r>
              <a:rPr sz="1300" b="0" i="0">
                <a:solidFill>
                  <a:srgbClr val="0E9488"/>
                </a:solidFill>
                <a:latin typeface="Calibri"/>
              </a:rPr>
              <a:t>a wrong sign or weight in the Z expansion</a:t>
            </a:r>
          </a:p>
        </p:txBody>
      </p:sp>
      <p:sp>
        <p:nvSpPr>
          <p:cNvPr id="13" name="Check 2"/>
          <p:cNvSpPr/>
          <p:nvPr/>
        </p:nvSpPr>
        <p:spPr>
          <a:xfrm>
            <a:off x="6199632" y="1737360"/>
            <a:ext cx="5257800" cy="1371600"/>
          </a:xfrm>
          <a:prstGeom prst="roundRect">
            <a:avLst>
              <a:gd name="adj" fmla="val 6666"/>
            </a:avLst>
          </a:prstGeom>
          <a:solidFill>
            <a:srgbClr val="E8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Oval 13"/>
          <p:cNvSpPr/>
          <p:nvPr/>
        </p:nvSpPr>
        <p:spPr>
          <a:xfrm>
            <a:off x="6428232" y="2167128"/>
            <a:ext cx="502920" cy="502920"/>
          </a:xfrm>
          <a:prstGeom prst="ellipse">
            <a:avLst/>
          </a:prstGeom>
          <a:solidFill>
            <a:srgbClr val="0E9488"/>
          </a:solidFill>
          <a:ln>
            <a:noFill/>
          </a:ln>
        </p:spPr>
        <p:txBody>
          <a:bodyPr lIns="0" tIns="0" rIns="0" b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59752" y="1865376"/>
            <a:ext cx="41148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B2433"/>
                </a:solidFill>
                <a:latin typeface="Calibri"/>
              </a:rPr>
              <a:t>Lowest energy = the answer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59752" y="2167128"/>
            <a:ext cx="4114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5B6575"/>
                </a:solidFill>
                <a:latin typeface="Calibri"/>
              </a:rPr>
              <a:t>Exactly 2 zero-cost states, matching count_answers and the graph method; next cost is 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59752" y="2688336"/>
            <a:ext cx="4114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0E9488"/>
                </a:solidFill>
                <a:latin typeface="Calibri"/>
              </a:rPr>
              <a:t>Catches: </a:t>
            </a:r>
            <a:r>
              <a:rPr sz="1300" b="0" i="0">
                <a:solidFill>
                  <a:srgbClr val="0E9488"/>
                </a:solidFill>
                <a:latin typeface="Calibri"/>
              </a:rPr>
              <a:t>a cost that misses solutions or rewards wrong towers</a:t>
            </a:r>
          </a:p>
        </p:txBody>
      </p:sp>
      <p:sp>
        <p:nvSpPr>
          <p:cNvPr id="18" name="Check 3"/>
          <p:cNvSpPr/>
          <p:nvPr/>
        </p:nvSpPr>
        <p:spPr>
          <a:xfrm>
            <a:off x="731520" y="3236976"/>
            <a:ext cx="5257800" cy="1371600"/>
          </a:xfrm>
          <a:prstGeom prst="roundRect">
            <a:avLst>
              <a:gd name="adj" fmla="val 6666"/>
            </a:avLst>
          </a:prstGeom>
          <a:solidFill>
            <a:srgbClr val="E8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Oval 18"/>
          <p:cNvSpPr/>
          <p:nvPr/>
        </p:nvSpPr>
        <p:spPr>
          <a:xfrm>
            <a:off x="960120" y="3666744"/>
            <a:ext cx="502920" cy="502920"/>
          </a:xfrm>
          <a:prstGeom prst="ellipse">
            <a:avLst/>
          </a:prstGeom>
          <a:solidFill>
            <a:srgbClr val="0E9488"/>
          </a:solidFill>
          <a:ln>
            <a:noFill/>
          </a:ln>
        </p:spPr>
        <p:txBody>
          <a:bodyPr lIns="0" tIns="0" rIns="0" b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3364992"/>
            <a:ext cx="41148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B2433"/>
                </a:solidFill>
                <a:latin typeface="Calibri"/>
              </a:rPr>
              <a:t>Independent cost agrees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91640" y="3666744"/>
            <a:ext cx="4114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5B6575"/>
                </a:solidFill>
                <a:latin typeface="Calibri"/>
              </a:rPr>
              <a:t>The starter’s 24-qubit QUBO is zero on the same 2 states.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91640" y="4187952"/>
            <a:ext cx="4114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0E9488"/>
                </a:solidFill>
                <a:latin typeface="Calibri"/>
              </a:rPr>
              <a:t>Catches: </a:t>
            </a:r>
            <a:r>
              <a:rPr sz="1300" b="0" i="0">
                <a:solidFill>
                  <a:srgbClr val="0E9488"/>
                </a:solidFill>
                <a:latin typeface="Calibri"/>
              </a:rPr>
              <a:t>an error shared by our cost and our own checker</a:t>
            </a:r>
          </a:p>
        </p:txBody>
      </p:sp>
      <p:sp>
        <p:nvSpPr>
          <p:cNvPr id="23" name="Check 4"/>
          <p:cNvSpPr/>
          <p:nvPr/>
        </p:nvSpPr>
        <p:spPr>
          <a:xfrm>
            <a:off x="6199632" y="3236976"/>
            <a:ext cx="5257800" cy="1371600"/>
          </a:xfrm>
          <a:prstGeom prst="roundRect">
            <a:avLst>
              <a:gd name="adj" fmla="val 6666"/>
            </a:avLst>
          </a:prstGeom>
          <a:solidFill>
            <a:srgbClr val="E8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Oval 23"/>
          <p:cNvSpPr/>
          <p:nvPr/>
        </p:nvSpPr>
        <p:spPr>
          <a:xfrm>
            <a:off x="6428232" y="3666744"/>
            <a:ext cx="502920" cy="502920"/>
          </a:xfrm>
          <a:prstGeom prst="ellipse">
            <a:avLst/>
          </a:prstGeom>
          <a:solidFill>
            <a:srgbClr val="0E9488"/>
          </a:solidFill>
          <a:ln>
            <a:noFill/>
          </a:ln>
        </p:spPr>
        <p:txBody>
          <a:bodyPr lIns="0" tIns="0" rIns="0" b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59752" y="3364992"/>
            <a:ext cx="41148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B2433"/>
                </a:solidFill>
                <a:latin typeface="Calibri"/>
              </a:rPr>
              <a:t>Circuit stays legal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59752" y="3666744"/>
            <a:ext cx="4114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5B6575"/>
                </a:solidFill>
                <a:latin typeface="Calibri"/>
              </a:rPr>
              <a:t>Start state is 1/6 on each valid code; leakage to codes 6, 7 is 7e-15; 0 invalid shots.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59752" y="4187952"/>
            <a:ext cx="4114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0E9488"/>
                </a:solidFill>
                <a:latin typeface="Calibri"/>
              </a:rPr>
              <a:t>Catches: </a:t>
            </a:r>
            <a:r>
              <a:rPr sz="1300" b="0" i="0">
                <a:solidFill>
                  <a:srgbClr val="0E9488"/>
                </a:solidFill>
                <a:latin typeface="Calibri"/>
              </a:rPr>
              <a:t>a wrong control or angle in the start or mixer gates</a:t>
            </a:r>
          </a:p>
        </p:txBody>
      </p:sp>
      <p:sp>
        <p:nvSpPr>
          <p:cNvPr id="28" name="Check 5"/>
          <p:cNvSpPr/>
          <p:nvPr/>
        </p:nvSpPr>
        <p:spPr>
          <a:xfrm>
            <a:off x="731520" y="4736592"/>
            <a:ext cx="5257800" cy="1371600"/>
          </a:xfrm>
          <a:prstGeom prst="roundRect">
            <a:avLst>
              <a:gd name="adj" fmla="val 6666"/>
            </a:avLst>
          </a:prstGeom>
          <a:solidFill>
            <a:srgbClr val="E8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9" name="Oval 28"/>
          <p:cNvSpPr/>
          <p:nvPr/>
        </p:nvSpPr>
        <p:spPr>
          <a:xfrm>
            <a:off x="960120" y="5166359"/>
            <a:ext cx="502920" cy="502920"/>
          </a:xfrm>
          <a:prstGeom prst="ellipse">
            <a:avLst/>
          </a:prstGeom>
          <a:solidFill>
            <a:srgbClr val="0E9488"/>
          </a:solidFill>
          <a:ln>
            <a:noFill/>
          </a:ln>
        </p:spPr>
        <p:txBody>
          <a:bodyPr lIns="0" tIns="0" rIns="0" b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91640" y="4864607"/>
            <a:ext cx="41148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B2433"/>
                </a:solidFill>
                <a:latin typeface="Calibri"/>
              </a:rPr>
              <a:t>Fast simulator = Qiskit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691640" y="5166359"/>
            <a:ext cx="4114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5B6575"/>
                </a:solidFill>
                <a:latin typeface="Calibri"/>
              </a:rPr>
              <a:t>Our 6^N simulator matches Statevector of the real circuit to 5e-17.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91640" y="5687568"/>
            <a:ext cx="4114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0E9488"/>
                </a:solidFill>
                <a:latin typeface="Calibri"/>
              </a:rPr>
              <a:t>Catches: </a:t>
            </a:r>
            <a:r>
              <a:rPr sz="1300" b="0" i="0">
                <a:solidFill>
                  <a:srgbClr val="0E9488"/>
                </a:solidFill>
                <a:latin typeface="Calibri"/>
              </a:rPr>
              <a:t>tuning angles on a model that isn’t the real circuit</a:t>
            </a:r>
          </a:p>
        </p:txBody>
      </p:sp>
      <p:sp>
        <p:nvSpPr>
          <p:cNvPr id="33" name="Check 6"/>
          <p:cNvSpPr/>
          <p:nvPr/>
        </p:nvSpPr>
        <p:spPr>
          <a:xfrm>
            <a:off x="6199632" y="4736592"/>
            <a:ext cx="5257800" cy="1371600"/>
          </a:xfrm>
          <a:prstGeom prst="roundRect">
            <a:avLst>
              <a:gd name="adj" fmla="val 6666"/>
            </a:avLst>
          </a:prstGeom>
          <a:solidFill>
            <a:srgbClr val="E8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4" name="Oval 33"/>
          <p:cNvSpPr/>
          <p:nvPr/>
        </p:nvSpPr>
        <p:spPr>
          <a:xfrm>
            <a:off x="6428232" y="5166359"/>
            <a:ext cx="502920" cy="502920"/>
          </a:xfrm>
          <a:prstGeom prst="ellipse">
            <a:avLst/>
          </a:prstGeom>
          <a:solidFill>
            <a:srgbClr val="0E9488"/>
          </a:solidFill>
          <a:ln>
            <a:noFill/>
          </a:ln>
        </p:spPr>
        <p:txBody>
          <a:bodyPr lIns="0" tIns="0" rIns="0" b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59752" y="4864607"/>
            <a:ext cx="41148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B2433"/>
                </a:solidFill>
                <a:latin typeface="Calibri"/>
              </a:rPr>
              <a:t>Every tower checked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59752" y="5166359"/>
            <a:ext cx="4114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5B6575"/>
                </a:solidFill>
                <a:latin typeface="Calibri"/>
              </a:rPr>
              <a:t>Each shot is decoded (qubit 0 = rightmost bit) and passed to solves().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159752" y="5687568"/>
            <a:ext cx="4114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0E9488"/>
                </a:solidFill>
                <a:latin typeface="Calibri"/>
              </a:rPr>
              <a:t>Catches: </a:t>
            </a:r>
            <a:r>
              <a:rPr sz="1300" b="0" i="0">
                <a:solidFill>
                  <a:srgbClr val="0E9488"/>
                </a:solidFill>
                <a:latin typeface="Calibri"/>
              </a:rPr>
              <a:t>a bit-order mistake when reading results</a:t>
            </a:r>
          </a:p>
        </p:txBody>
      </p:sp>
    </p:spTree>
    <p:extLst>
      <p:ext uri="{BB962C8B-B14F-4D97-AF65-F5344CB8AC3E}">
        <p14:creationId xmlns:p14="http://schemas.microsoft.com/office/powerpoint/2010/main" val="229374358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48640" y="411480"/>
            <a:ext cx="155448" cy="155448"/>
          </a:xfrm>
          <a:prstGeom prst="roundRect">
            <a:avLst/>
          </a:prstGeom>
          <a:solidFill>
            <a:srgbClr val="D64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48640" y="603504"/>
            <a:ext cx="155448" cy="155448"/>
          </a:xfrm>
          <a:prstGeom prst="roundRect">
            <a:avLst/>
          </a:prstGeom>
          <a:solidFill>
            <a:srgbClr val="2FA9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548640" y="795528"/>
            <a:ext cx="155448" cy="155448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548640" y="987552"/>
            <a:ext cx="155448" cy="155448"/>
          </a:xfrm>
          <a:prstGeom prst="roundRect">
            <a:avLst/>
          </a:prstGeom>
          <a:solidFill>
            <a:srgbClr val="E8B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60120" y="347472"/>
            <a:ext cx="10515600" cy="7315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B2433"/>
                </a:solidFill>
                <a:latin typeface="Cambria"/>
              </a:rPr>
              <a:t>Four cubes: 73% of shots are the solved tower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1051560"/>
            <a:ext cx="10515600" cy="4572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B6575"/>
                </a:solidFill>
                <a:latin typeface="Calibri"/>
              </a:rPr>
              <a:t>Constrained QAOA, 12 qubits, 1000 shots per circuit; random legal guess = 0.15%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40080" y="1645920"/>
          <a:ext cx="6766560" cy="457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772400" y="1737360"/>
          <a:ext cx="393192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863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8638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8638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8638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8638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</a:t>
                      </a:r>
                    </a:p>
                  </a:txBody>
                  <a:tcPr>
                    <a:solidFill>
                      <a:srgbClr val="0E948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CX</a:t>
                      </a:r>
                    </a:p>
                  </a:txBody>
                  <a:tcPr>
                    <a:solidFill>
                      <a:srgbClr val="0E948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depth</a:t>
                      </a:r>
                    </a:p>
                  </a:txBody>
                  <a:tcPr>
                    <a:solidFill>
                      <a:srgbClr val="0E948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SV1</a:t>
                      </a:r>
                    </a:p>
                  </a:txBody>
                  <a:tcPr>
                    <a:solidFill>
                      <a:srgbClr val="0E948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exact</a:t>
                      </a:r>
                    </a:p>
                  </a:txBody>
                  <a:tcPr>
                    <a:solidFill>
                      <a:srgbClr val="0E948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550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522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1.7%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1.1%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2,188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2,040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8.7%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8.8%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4,372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4,064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42%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42%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6,556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6,088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73%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73%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772400" y="4343400"/>
            <a:ext cx="3931920" cy="18288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 i="0">
                <a:solidFill>
                  <a:srgbClr val="1B2433"/>
                </a:solidFill>
                <a:latin typeface="Calibri"/>
              </a:rPr>
              <a:t>Device: </a:t>
            </a:r>
            <a:r>
              <a:rPr sz="1400" b="0" i="0">
                <a:solidFill>
                  <a:srgbClr val="1B2433"/>
                </a:solidFill>
                <a:latin typeface="Calibri"/>
              </a:rPr>
              <a:t>aws:aws:sim:sv1</a:t>
            </a:r>
          </a:p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1B2433"/>
                </a:solidFill>
                <a:latin typeface="Calibri"/>
              </a:rPr>
              <a:t>Measured at p = 12: about 475× a random legal guess. Measured shots match the exact value within shot noise.</a:t>
            </a:r>
          </a:p>
          <a:p>
            <a:pPr algn="l">
              <a:spcAft>
                <a:spcPts val="800"/>
              </a:spcAft>
            </a:pPr>
            <a:r>
              <a:rPr sz="1400" b="1" i="0">
                <a:solidFill>
                  <a:srgbClr val="1B2433"/>
                </a:solidFill>
                <a:latin typeface="Calibri"/>
              </a:rPr>
              <a:t>Warm-up (front/back only, starter): </a:t>
            </a:r>
            <a:r>
              <a:rPr sz="1400" b="0" i="0">
                <a:solidFill>
                  <a:srgbClr val="1B2433"/>
                </a:solidFill>
                <a:latin typeface="Calibri"/>
              </a:rPr>
              <a:t>31% good picks at p = 2.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48640" y="411480"/>
            <a:ext cx="155448" cy="155448"/>
          </a:xfrm>
          <a:prstGeom prst="roundRect">
            <a:avLst/>
          </a:prstGeom>
          <a:solidFill>
            <a:srgbClr val="D64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48640" y="603504"/>
            <a:ext cx="155448" cy="155448"/>
          </a:xfrm>
          <a:prstGeom prst="roundRect">
            <a:avLst/>
          </a:prstGeom>
          <a:solidFill>
            <a:srgbClr val="2FA9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548640" y="795528"/>
            <a:ext cx="155448" cy="155448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548640" y="987552"/>
            <a:ext cx="155448" cy="155448"/>
          </a:xfrm>
          <a:prstGeom prst="roundRect">
            <a:avLst/>
          </a:prstGeom>
          <a:solidFill>
            <a:srgbClr val="E8B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60120" y="347472"/>
            <a:ext cx="10515600" cy="7315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B2433"/>
                </a:solidFill>
                <a:latin typeface="Cambria"/>
              </a:rPr>
              <a:t>Bonus: same method for N cubes and N colors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1051560"/>
            <a:ext cx="10515600" cy="4572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B6575"/>
                </a:solidFill>
                <a:latin typeface="Calibri"/>
              </a:rPr>
              <a:t>make_puzzle seeds {5: 16, 6: 86, 7: 68, 8: 4}, each with exactly one tower; depth fixed at p = 10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40080" y="1645920"/>
          <a:ext cx="6035040" cy="457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040880" y="1737360"/>
          <a:ext cx="4663440" cy="2773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77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N</a:t>
                      </a:r>
                    </a:p>
                  </a:txBody>
                  <a:tcPr>
                    <a:solidFill>
                      <a:srgbClr val="0E948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qubits</a:t>
                      </a:r>
                    </a:p>
                  </a:txBody>
                  <a:tcPr>
                    <a:solidFill>
                      <a:srgbClr val="0E948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CX</a:t>
                      </a:r>
                    </a:p>
                  </a:txBody>
                  <a:tcPr>
                    <a:solidFill>
                      <a:srgbClr val="0E948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exact</a:t>
                      </a:r>
                    </a:p>
                  </a:txBody>
                  <a:tcPr>
                    <a:solidFill>
                      <a:srgbClr val="0E948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SV1 shots</a:t>
                      </a:r>
                    </a:p>
                  </a:txBody>
                  <a:tcPr>
                    <a:solidFill>
                      <a:srgbClr val="0E948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× random</a:t>
                      </a:r>
                    </a:p>
                  </a:txBody>
                  <a:tcPr>
                    <a:solidFill>
                      <a:srgbClr val="0E948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5,464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58%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59%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375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9,285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9.1%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9.5%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354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13,446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9.5%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9.4%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2,206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16,627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3.5%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3.3%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4,877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21,128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4.3%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3.3%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36,057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040880" y="4663440"/>
            <a:ext cx="4663440" cy="1195199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 dirty="0">
                <a:solidFill>
                  <a:srgbClr val="1B2433"/>
                </a:solidFill>
                <a:latin typeface="Calibri"/>
              </a:rPr>
              <a:t>Beats guessing, loses to classical. </a:t>
            </a:r>
            <a:r>
              <a:rPr sz="1300" b="0" i="0" dirty="0">
                <a:solidFill>
                  <a:srgbClr val="1B2433"/>
                </a:solidFill>
                <a:latin typeface="Calibri"/>
              </a:rPr>
              <a:t>At fixed depth our success falls with N, but more slowly than random guessing, so the gap over guessing grows.</a:t>
            </a:r>
          </a:p>
          <a:p>
            <a:pPr algn="l">
              <a:spcAft>
                <a:spcPts val="800"/>
              </a:spcAft>
            </a:pPr>
            <a:r>
              <a:rPr sz="1300" b="1" i="0" dirty="0">
                <a:solidFill>
                  <a:srgbClr val="C2772A"/>
                </a:solidFill>
                <a:latin typeface="Calibri"/>
              </a:rPr>
              <a:t>The textbook classical method </a:t>
            </a:r>
            <a:r>
              <a:rPr sz="1300" b="0" i="0" dirty="0">
                <a:solidFill>
                  <a:srgbClr val="1B2433"/>
                </a:solidFill>
                <a:latin typeface="Calibri"/>
              </a:rPr>
              <a:t>(the same color graph) always finds the tower, in 13 </a:t>
            </a:r>
            <a:r>
              <a:rPr lang="en-US" sz="1300" b="0" i="0" err="1">
                <a:solidFill>
                  <a:srgbClr val="1B2433"/>
                </a:solidFill>
                <a:latin typeface="Calibri"/>
              </a:rPr>
              <a:t>ms</a:t>
            </a:r>
            <a:r>
              <a:rPr sz="1300" b="0" i="0" dirty="0">
                <a:solidFill>
                  <a:srgbClr val="1B2433"/>
                </a:solidFill>
                <a:latin typeface="Calibri"/>
              </a:rPr>
              <a:t> at N = 8.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48640" y="411480"/>
            <a:ext cx="155448" cy="155448"/>
          </a:xfrm>
          <a:prstGeom prst="roundRect">
            <a:avLst/>
          </a:prstGeom>
          <a:solidFill>
            <a:srgbClr val="D64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48640" y="603504"/>
            <a:ext cx="155448" cy="155448"/>
          </a:xfrm>
          <a:prstGeom prst="roundRect">
            <a:avLst/>
          </a:prstGeom>
          <a:solidFill>
            <a:srgbClr val="2FA9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548640" y="795528"/>
            <a:ext cx="155448" cy="155448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548640" y="987552"/>
            <a:ext cx="155448" cy="155448"/>
          </a:xfrm>
          <a:prstGeom prst="roundRect">
            <a:avLst/>
          </a:prstGeom>
          <a:solidFill>
            <a:srgbClr val="E8B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60120" y="347472"/>
            <a:ext cx="10515600" cy="7315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B2433"/>
                </a:solidFill>
                <a:latin typeface="Cambria"/>
              </a:rPr>
              <a:t>What we learned, and what we'd try next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1051560"/>
            <a:ext cx="10515600" cy="4572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B6575"/>
                </a:solidFill>
                <a:latin typeface="Calibri"/>
              </a:rPr>
              <a:t>How many layers QAOA needs, and how it compares with a real classical solver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943600"/>
            <a:ext cx="5852160" cy="461665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lang="en-US" sz="1200" b="0" i="0" dirty="0">
                <a:solidFill>
                  <a:srgbClr val="5B6575"/>
                </a:solidFill>
                <a:latin typeface="Calibri"/>
              </a:rPr>
              <a:t>Main puzzle of each size shown. Across all 16 puzzles we ran, the same size needed anywhere from 11 to 60 layers.</a:t>
            </a:r>
            <a:endParaRPr sz="1200" b="0" i="0" dirty="0">
              <a:solidFill>
                <a:srgbClr val="5B6575"/>
              </a:solidFill>
              <a:latin typeface="Calibri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6949440" y="1600200"/>
            <a:ext cx="4754880" cy="1965960"/>
          </a:xfrm>
          <a:prstGeom prst="roundRect">
            <a:avLst>
              <a:gd name="adj" fmla="val 6000"/>
            </a:avLst>
          </a:prstGeom>
          <a:solidFill>
            <a:srgbClr val="E8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178040" y="1691640"/>
            <a:ext cx="4389120" cy="18288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0E9488"/>
                </a:solidFill>
                <a:latin typeface="Cambria"/>
              </a:rPr>
              <a:t>Learned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B2433"/>
                </a:solidFill>
                <a:latin typeface="Calibri"/>
              </a:rPr>
              <a:t>Rules built into the encoding: half the qubits, no penalties, 0 wasted shots.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B2433"/>
                </a:solidFill>
                <a:latin typeface="Calibri"/>
              </a:rPr>
              <a:t>QAOA concentrates probability on the answer (73% vs 0.15% guessing), checked shot by shot.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B2433"/>
                </a:solidFill>
                <a:latin typeface="Calibri"/>
              </a:rPr>
              <a:t>Layers needed grow with N, and vary a lot between puzzles of the same size.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49440" y="3703320"/>
            <a:ext cx="4754880" cy="1508760"/>
          </a:xfrm>
          <a:prstGeom prst="roundRect">
            <a:avLst>
              <a:gd name="adj" fmla="val 6000"/>
            </a:avLst>
          </a:prstGeom>
          <a:solidFill>
            <a:srgbClr val="E8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178040" y="3794760"/>
            <a:ext cx="4389120" cy="13716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C2772A"/>
                </a:solidFill>
                <a:latin typeface="Cambria"/>
              </a:rPr>
              <a:t>Fair comparison: no quantum advantage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B2433"/>
                </a:solidFill>
                <a:latin typeface="Calibri"/>
              </a:rPr>
              <a:t>A smart classical solver finds the 8-cube tower in 13 ms. QAOA would need about 65,000 CNOTs per shot at 50%, plus thousands of runs to tune: far beyond today's hardware.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5349240"/>
            <a:ext cx="4754880" cy="492443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 dirty="0">
                <a:solidFill>
                  <a:srgbClr val="0E9488"/>
                </a:solidFill>
                <a:latin typeface="Calibri"/>
              </a:rPr>
              <a:t>Next step: </a:t>
            </a:r>
            <a:r>
              <a:rPr sz="1300" b="0" i="0" dirty="0">
                <a:solidFill>
                  <a:srgbClr val="1B2433"/>
                </a:solidFill>
                <a:latin typeface="Calibri"/>
              </a:rPr>
              <a:t>track how layers grow at larger N, with CVaR (tune for the best shots, not the average).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6B0CF4CB-2C50-CB8A-3B37-B133F350489B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952500" y="1549400"/>
            <a:ext cx="5219700" cy="43561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2058</Words>
  <Application>Microsoft Macintosh PowerPoint</Application>
  <PresentationFormat>Widescreen</PresentationFormat>
  <Paragraphs>251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Arial</vt:lpstr>
      <vt:lpstr>Calibri</vt:lpstr>
      <vt:lpstr>Cambria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Mohanty, Rithwik</cp:lastModifiedBy>
  <cp:revision>2</cp:revision>
  <dcterms:created xsi:type="dcterms:W3CDTF">2013-01-27T09:14:16Z</dcterms:created>
  <dcterms:modified xsi:type="dcterms:W3CDTF">2026-10-17T18:34:54Z</dcterms:modified>
  <cp:category/>
</cp:coreProperties>
</file>