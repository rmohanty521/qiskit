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0.010956797062765046</c:v>
                </c:pt>
                <c:pt idx="1">
                  <c:v>0.02738264033988491</c:v>
                </c:pt>
                <c:pt idx="2">
                  <c:v>0.047695289998323655</c:v>
                </c:pt>
                <c:pt idx="3">
                  <c:v>0.08809603625645926</c:v>
                </c:pt>
                <c:pt idx="4">
                  <c:v>0.14184200152100823</c:v>
                </c:pt>
                <c:pt idx="5">
                  <c:v>0.2113435942587491</c:v>
                </c:pt>
                <c:pt idx="6">
                  <c:v>0.32074272777074336</c:v>
                </c:pt>
                <c:pt idx="7">
                  <c:v>0.41789390003074395</c:v>
                </c:pt>
                <c:pt idx="8">
                  <c:v>0.5014502142448615</c:v>
                </c:pt>
                <c:pt idx="9">
                  <c:v>0.579284222454486</c:v>
                </c:pt>
                <c:pt idx="10">
                  <c:v>0.6595587835969536</c:v>
                </c:pt>
                <c:pt idx="11">
                  <c:v>0.7288901699283823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0.5787952599097943</c:v>
                </c:pt>
                <c:pt idx="1">
                  <c:v>0.09108621479612343</c:v>
                </c:pt>
                <c:pt idx="2">
                  <c:v>0.09456350094970882</c:v>
                </c:pt>
                <c:pt idx="3">
                  <c:v>0.03484286082799597</c:v>
                </c:pt>
                <c:pt idx="4">
                  <c:v>0.042934894629718424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pPr>
              <a:solidFill>
                <a:srgbClr val="5B6575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0.0015432098765432098</c:v>
                </c:pt>
                <c:pt idx="1">
                  <c:v>0.000257201646090535</c:v>
                </c:pt>
                <c:pt idx="2">
                  <c:v>4.286694101508916e-05</c:v>
                </c:pt>
                <c:pt idx="3">
                  <c:v>7.144490169181527e-06</c:v>
                </c:pt>
                <c:pt idx="4">
                  <c:v>1.1907483615302546e-06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crossAx val="2140495176"/>
        <c:crosses val="min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layout/>
          <c:overlay val="0"/>
        </c:title>
        <c:numFmt formatCode="[&gt;=0.01]0%;[&gt;=0.00001]0.0##%;0.0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bit order — qubit 0 is the rightmost character in a Qiskit key; cube 1 is the last 3 characters. We tested the decoder on the known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mixer is the 'complete graph' mixer over 6 codes. Tuning: layer by layer, each depth starts from the previous angles stretched (INTERP).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this is the slide for the tie-break criterion. Say how each check would catch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close with honesty — what works, what doesn't scale, and the one next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Zain Irfan, Mark Gebuza, Rithwik Mohanty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7315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four cubes, unfolded</a:t>
            </a:r>
          </a:p>
        </p:txBody>
      </p:sp>
      <p:pic>
        <p:nvPicPr>
          <p:cNvPr id="9" name="Picture 8" descr="fig_n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315200" cy="1523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0" y="1508760"/>
            <a:ext cx="2743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one solved tower</a:t>
            </a:r>
          </a:p>
        </p:txBody>
      </p:sp>
      <p:pic>
        <p:nvPicPr>
          <p:cNvPr id="11" name="Picture 10" descr="fig_t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828800"/>
            <a:ext cx="1914290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3977639"/>
            <a:ext cx="27432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79"/>
            <a:ext cx="274320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977639"/>
            <a:ext cx="21031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54879"/>
            <a:ext cx="210312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tower, 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977639"/>
            <a:ext cx="21031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754879"/>
            <a:ext cx="210312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classical brute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69494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B6575"/>
                </a:solidFill>
                <a:latin typeface="Calibri"/>
              </a:rPr>
              <a:t>The general N-cube problem is NP-complete. </a:t>
            </a:r>
            <a:r>
              <a:rPr sz="1400" b="0" i="1">
                <a:solidFill>
                  <a:srgbClr val="5B6575"/>
                </a:solidFill>
                <a:latin typeface="Calibri"/>
              </a:rPr>
              <a:t>We do not claim a speedup.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840480"/>
            <a:ext cx="384048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5B6575"/>
                </a:solidFill>
                <a:latin typeface="Calibri"/>
              </a:rPr>
              <a:t>Graph view: colours are dots, opposite pairs are 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206240"/>
            <a:ext cx="3657600" cy="237744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g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297680"/>
            <a:ext cx="28854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trick: 6 choices per cube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Colours are dots, opposite-face pairs are lines. The answer's picks touch every colour exactly twice</a:t>
            </a:r>
          </a:p>
        </p:txBody>
      </p:sp>
      <p:pic>
        <p:nvPicPr>
          <p:cNvPr id="8" name="Picture 7" descr="fig_graph_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2881445" cy="2331720"/>
          </a:xfrm>
          <a:prstGeom prst="rect">
            <a:avLst/>
          </a:prstGeom>
        </p:spPr>
      </p:pic>
      <p:pic>
        <p:nvPicPr>
          <p:cNvPr id="9" name="Picture 8" descr="fig_graph_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3360"/>
            <a:ext cx="2881445" cy="233172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43400" y="1783080"/>
          <a:ext cx="3566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685800"/>
                <a:gridCol w="1143000"/>
                <a:gridCol w="1143000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front/back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left/right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unused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0" y="1783080"/>
            <a:ext cx="3474720" cy="4754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Front + back together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show every colour twice, so pick one line per cube that touches each dot exactly twice (top left). Same for left + right (bottom left).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Which way round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each pair faces can be fixed afterwards.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So a cube only picks </a:t>
            </a:r>
            <a:r>
              <a:rPr sz="1400" b="1" i="0">
                <a:solidFill>
                  <a:srgbClr val="1B2433"/>
                </a:solidFill>
                <a:latin typeface="Calibri"/>
              </a:rPr>
              <a:t>2 different pairs: 3 × 2 = 6 choices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, stored as a code 0 to 5 in 3 qubits.</a:t>
            </a:r>
          </a:p>
          <a:p>
            <a:pPr algn="l">
              <a:spcAft>
                <a:spcPts val="900"/>
              </a:spcAft>
            </a:pPr>
            <a:r>
              <a:rPr sz="1900" b="1" i="0">
                <a:solidFill>
                  <a:srgbClr val="0E9488"/>
                </a:solidFill>
                <a:latin typeface="Cambria"/>
              </a:rPr>
              <a:t>Cost  C = Σ (d − 2)²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d = how many picked lines touch a colour. C = 0 exactly for a solved tower. 164 Z terms at N = 4.</a:t>
            </a:r>
          </a:p>
          <a:p>
            <a:pPr algn="l">
              <a:spcAft>
                <a:spcPts val="900"/>
              </a:spcAft>
            </a:pPr>
            <a:r>
              <a:rPr sz="1400" b="0" i="1">
                <a:solidFill>
                  <a:srgbClr val="1B2433"/>
                </a:solidFill>
                <a:latin typeface="Calibri"/>
              </a:rPr>
              <a:t>Codes 6 and 7 need no penalty: the circuit never creates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Algorithm: QAOA that only makes legal 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Start in all legal choices, then alternate a cost layer and a per-cube mixer, p times</a:t>
            </a:r>
          </a:p>
        </p:txBody>
      </p:sp>
      <p:pic>
        <p:nvPicPr>
          <p:cNvPr id="8" name="Picture 7" descr="circuit_one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675120" cy="183409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105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1  Start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each cube in an equal mix of its 6 codes (RY, controlled-H, 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6517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2  Cost layer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exp(−iγH): each Z string is a CNOT ladder + one RZ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6393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3  Mixer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exp(−iβ|u⟩⟨u|) per cube: any legal choice can become any other, never an illegal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805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5537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4  Tune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pick γ, β by minimising the average cost on a simulator, never using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3949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4681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5  Measure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decode every shot and check it with solves()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66751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Above: one cube's start state, then one mixer step (undo the start, phase on |000⟩, redo). One full layer at N = 4 is about 550 CNOTs after transpiling to rz, sx, x, cx.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notebook; all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N = 4 to 6: every valid state; N = 7, 8: 3,000 random ones. Largest gap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 = count_answers = graph method; no ties (next cost is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starter's 24-qubit QUBO is zero on the same 2 states.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2e-15; 0 invalid shots.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3e-17.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59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measured shot is decoded (qubit 0 = rightmost bit) and passed to solves().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73%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aws:aws:sim:sv1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Measured at p = 12: about 475× a random legal guess.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31% good picks at p =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 shots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16,627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21,128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36,057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709160"/>
            <a:ext cx="466344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Qubits grow as 3N; CNOTs per layer grow about linearly here (550 → 2,100).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At fixed depth success falls with N, but more slowly than random guessing: the advantage over guessing grows. Keeping success high would need more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82880" cy="18288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859536"/>
            <a:ext cx="182880" cy="182880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78992"/>
            <a:ext cx="182880" cy="1828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82880" cy="182880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0292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5FD4C8"/>
                </a:solidFill>
                <a:latin typeface="Cambria"/>
              </a:rPr>
              <a:t>Learned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Building the rules into the encoding (3 qubits per cube) beat penalty terms: fewer qubits, nothing to tune, no wasted shots.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QAOA really concentrates probability on the answer, and checks show it is the right answer.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No speedup: brute force takes 0.14 s, and tuning needed a full classical simulation.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Success at fixed depth falls with N; gates grow with 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F0B070"/>
                </a:solidFill>
                <a:latin typeface="Cambria"/>
              </a:rPr>
              <a:t>Next step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Measure how many layers keep success at 50% as N grows, </a:t>
            </a:r>
            <a:r>
              <a:rPr sz="1600" b="0" i="0">
                <a:solidFill>
                  <a:srgbClr val="C9D3DA"/>
                </a:solidFill>
                <a:latin typeface="Calibri"/>
              </a:rPr>
              <a:t>using a CVaR objective and angles transferred from smaller 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Also: reorder cost terms to cancel CNOTs; a Grover search with a reversible degree-counting oracle; one shallow run on real hardware next to SV1.</a:t>
            </a:r>
          </a:p>
          <a:p>
            <a:pPr algn="l">
              <a:spcAft>
                <a:spcPts val="1200"/>
              </a:spcAft>
            </a:pPr>
            <a:r>
              <a:rPr sz="1600" b="0" i="1">
                <a:solidFill>
                  <a:srgbClr val="C9D3DA"/>
                </a:solidFill>
                <a:latin typeface="Calibri"/>
              </a:rPr>
              <a:t>AI use: Claude Code wrote code and docs; every model was checked against brute force.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