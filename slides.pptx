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exact (simulator)</c:v>
                </c:pt>
              </c:strCache>
            </c:strRef>
          </c:tx>
          <c:spPr>
            <a:ln w="31750">
              <a:solidFill>
                <a:srgbClr val="0E9488"/>
              </a:solidFill>
            </a:ln>
          </c:spPr>
          <c:marker>
            <c:symbol val="circle"/>
            <c:spPr>
              <a:solidFill>
                <a:srgbClr val="0E9488"/>
              </a:solidFill>
            </c:spPr>
          </c:marker>
          <c:cat>
            <c:strRef>
              <c:f>Sheet1!$A$2:$A$13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0.010956797062765046</c:v>
                </c:pt>
                <c:pt idx="1">
                  <c:v>0.02738264033988491</c:v>
                </c:pt>
                <c:pt idx="2">
                  <c:v>0.047695289998323655</c:v>
                </c:pt>
                <c:pt idx="3">
                  <c:v>0.08809603625645926</c:v>
                </c:pt>
                <c:pt idx="4">
                  <c:v>0.14184200152100823</c:v>
                </c:pt>
                <c:pt idx="5">
                  <c:v>0.2113435942587491</c:v>
                </c:pt>
                <c:pt idx="6">
                  <c:v>0.32074272777074336</c:v>
                </c:pt>
                <c:pt idx="7">
                  <c:v>0.41789390003074395</c:v>
                </c:pt>
                <c:pt idx="8">
                  <c:v>0.5014502142448615</c:v>
                </c:pt>
                <c:pt idx="9">
                  <c:v>0.579284222454486</c:v>
                </c:pt>
                <c:pt idx="10">
                  <c:v>0.6595587835969536</c:v>
                </c:pt>
                <c:pt idx="11">
                  <c:v>0.7288901699283823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200" b="0">
                    <a:solidFill>
                      <a:srgbClr val="5B6575"/>
                    </a:solidFill>
                  </a:rPr>
                  <a:t>layers p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.0"/>
        </c:scaling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5B6575"/>
                    </a:solidFill>
                  </a:rPr>
                  <a:t>P(correct tower)</a:t>
                </a:r>
              </a:p>
            </c:rich>
          </c:tx>
          <c:layout/>
          <c:overlay val="0"/>
        </c:title>
        <c:numFmt formatCode="0%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200">
          <a:solidFill>
            <a:srgbClr val="5B6575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QAOA p = 10</c:v>
                </c:pt>
              </c:strCache>
            </c:strRef>
          </c:tx>
          <c:spPr>
            <a:ln w="31750">
              <a:solidFill>
                <a:srgbClr val="0E9488"/>
              </a:solidFill>
            </a:ln>
          </c:spPr>
          <c:marker>
            <c:symbol val="circle"/>
            <c:spPr>
              <a:solidFill>
                <a:srgbClr val="0E9488"/>
              </a:solidFill>
            </c:spPr>
          </c:marker>
          <c:cat>
            <c:strRef>
              <c:f>Sheet1!$A$2:$A$6</c:f>
              <c:strCache>
                <c:ptCount val="5"/>
                <c:pt idx="0">
                  <c:v>4</c:v>
                </c:pt>
                <c:pt idx="1">
                  <c:v>5</c:v>
                </c:pt>
                <c:pt idx="2">
                  <c:v>6</c:v>
                </c:pt>
                <c:pt idx="3">
                  <c:v>7</c:v>
                </c:pt>
                <c:pt idx="4">
                  <c:v>8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0.5787952599097943</c:v>
                </c:pt>
                <c:pt idx="1">
                  <c:v>0.09108621479612343</c:v>
                </c:pt>
                <c:pt idx="2">
                  <c:v>0.09456350094970882</c:v>
                </c:pt>
                <c:pt idx="3">
                  <c:v>0.03484286082799597</c:v>
                </c:pt>
                <c:pt idx="4">
                  <c:v>0.042934894629718424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random legal guess</c:v>
                </c:pt>
              </c:strCache>
            </c:strRef>
          </c:tx>
          <c:spPr>
            <a:ln w="31750">
              <a:solidFill>
                <a:srgbClr val="5B6575"/>
              </a:solidFill>
            </a:ln>
          </c:spPr>
          <c:marker>
            <c:symbol val="circle"/>
            <c:spPr>
              <a:solidFill>
                <a:srgbClr val="5B6575"/>
              </a:solidFill>
            </c:spPr>
          </c:marker>
          <c:cat>
            <c:strRef>
              <c:f>Sheet1!$A$2:$A$6</c:f>
              <c:strCache>
                <c:ptCount val="5"/>
                <c:pt idx="0">
                  <c:v>4</c:v>
                </c:pt>
                <c:pt idx="1">
                  <c:v>5</c:v>
                </c:pt>
                <c:pt idx="2">
                  <c:v>6</c:v>
                </c:pt>
                <c:pt idx="3">
                  <c:v>7</c:v>
                </c:pt>
                <c:pt idx="4">
                  <c:v>8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0.0015432098765432098</c:v>
                </c:pt>
                <c:pt idx="1">
                  <c:v>0.000257201646090535</c:v>
                </c:pt>
                <c:pt idx="2">
                  <c:v>4.286694101508916e-05</c:v>
                </c:pt>
                <c:pt idx="3">
                  <c:v>7.144490169181527e-06</c:v>
                </c:pt>
                <c:pt idx="4">
                  <c:v>1.1907483615302546e-06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200" b="0">
                    <a:solidFill>
                      <a:srgbClr val="5B6575"/>
                    </a:solidFill>
                  </a:rPr>
                  <a:t>N cubes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logBase val="10"/>
        </c:scaling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5B6575"/>
                    </a:solidFill>
                  </a:rPr>
                  <a:t>P(correct tower), log scale</a:t>
                </a:r>
              </a:p>
            </c:rich>
          </c:tx>
          <c:layout/>
          <c:overlay val="0"/>
        </c:title>
        <c:numFmt formatCode="0.000%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5B6575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1: introduce the team and the one-line story: 3 qubits per cube, a mixer that only allows legal moves, and classical checks everywhere.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1: why it's hard by hand, why it's easy for a computer at N=4, and how the graph view shrinks it to 6 choices per cube.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1: bit order — qubit 0 is the rightmost character in a Qiskit key; cube 1 is the last 3 characters. We tested the decoder on the known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2: the mixer is the 'complete graph' mixer over 6 codes. Tuning: layer by layer, each depth starts from the previous angles stretched (INTERP).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2: this is the slide for the tie-break criterion. Say how each check would catch a bug.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2: the line is the exact simulation; the table is shots. Point out the baseline and that no shot was an illegal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3: angles for N=5-8 were tuned offline with the same function and reloaded; the notebook recomputes their success. N=7,8 local shots come from the exact distribution unless run on SV1.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3: close with honesty — what works, what doesn't scale, and the one next experiment.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0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828800"/>
            <a:ext cx="384048" cy="384048"/>
          </a:xfrm>
          <a:prstGeom prst="roundRect">
            <a:avLst/>
          </a:prstGeom>
          <a:solidFill>
            <a:srgbClr val="D6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2249424"/>
            <a:ext cx="384048" cy="384048"/>
          </a:xfrm>
          <a:prstGeom prst="roundRect">
            <a:avLst/>
          </a:prstGeom>
          <a:solidFill>
            <a:srgbClr val="2FA9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2670048"/>
            <a:ext cx="384048" cy="384048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3090672"/>
            <a:ext cx="384048" cy="384048"/>
          </a:xfrm>
          <a:prstGeom prst="roundRect">
            <a:avLst/>
          </a:prstGeom>
          <a:solidFill>
            <a:srgbClr val="E8B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0" y="1691640"/>
            <a:ext cx="960120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 i="0">
                <a:solidFill>
                  <a:srgbClr val="FFFFFF"/>
                </a:solidFill>
                <a:latin typeface="Cambria"/>
              </a:rPr>
              <a:t>Instant Insanity on 12 qubits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743200"/>
            <a:ext cx="960120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B8C4CC"/>
                </a:solidFill>
                <a:latin typeface="Calibri"/>
              </a:rPr>
              <a:t>A compact encoding and constrained QAOA, checked against brute force at every step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4206240"/>
            <a:ext cx="960120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B8C4CC"/>
                </a:solidFill>
                <a:latin typeface="Calibri"/>
              </a:rPr>
              <a:t>Team: Zain Irfan, Mark Gebuza, Rithwik Mohanty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B8C4CC"/>
                </a:solidFill>
                <a:latin typeface="Calibri"/>
              </a:rPr>
              <a:t>Qiskit Fall Fest CT 2026 · qBraid challenge · warm-up, core and bonus (N = 4 to 8)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55448" cy="155448"/>
          </a:xfrm>
          <a:prstGeom prst="roundRect">
            <a:avLst/>
          </a:prstGeom>
          <a:solidFill>
            <a:srgbClr val="D6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03504"/>
            <a:ext cx="155448" cy="155448"/>
          </a:xfrm>
          <a:prstGeom prst="roundRect">
            <a:avLst/>
          </a:prstGeom>
          <a:solidFill>
            <a:srgbClr val="2FA9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795528"/>
            <a:ext cx="155448" cy="155448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987552"/>
            <a:ext cx="155448" cy="155448"/>
          </a:xfrm>
          <a:prstGeom prst="roundRect">
            <a:avLst/>
          </a:prstGeom>
          <a:solidFill>
            <a:srgbClr val="E8B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47472"/>
            <a:ext cx="10515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B2433"/>
                </a:solidFill>
                <a:latin typeface="Cambria"/>
              </a:rPr>
              <a:t>The puzzle: 8 good towers out of 331,776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051560"/>
            <a:ext cx="1051560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B6575"/>
                </a:solidFill>
                <a:latin typeface="Calibri"/>
              </a:rPr>
              <a:t>Stack 4 cubes so every side shows red, green, blue and yellow exactly once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329184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0E9488"/>
                </a:solidFill>
                <a:latin typeface="Cambria"/>
              </a:rPr>
              <a:t>331,776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329184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6575"/>
                </a:solidFill>
                <a:latin typeface="Calibri"/>
              </a:rPr>
              <a:t>ways to stack 4 cubes (24 orientations each)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200400"/>
            <a:ext cx="329184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C2772A"/>
                </a:solidFill>
                <a:latin typeface="Cambria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977639"/>
            <a:ext cx="329184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6575"/>
                </a:solidFill>
                <a:latin typeface="Calibri"/>
              </a:rPr>
              <a:t>solved: one tower seen from 8 angles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663440"/>
            <a:ext cx="329184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5B6575"/>
                </a:solidFill>
                <a:latin typeface="Cambria"/>
              </a:rPr>
              <a:t>0.14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440679"/>
            <a:ext cx="3291840" cy="6400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6575"/>
                </a:solidFill>
                <a:latin typeface="Calibri"/>
              </a:rPr>
              <a:t>for classical brute force to find them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60" y="1737360"/>
            <a:ext cx="7040880" cy="3931920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1965960"/>
            <a:ext cx="6492240" cy="4114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1B2433"/>
                </a:solidFill>
                <a:latin typeface="Cambria"/>
              </a:rPr>
              <a:t>Graph view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1B2433"/>
                </a:solidFill>
                <a:latin typeface="Calibri"/>
              </a:rPr>
              <a:t>Colours are nodes; each cube's 3 opposite-face pairs are edges.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1B2433"/>
                </a:solidFill>
                <a:latin typeface="Calibri"/>
              </a:rPr>
              <a:t>Front/back picks must touch every colour exactly twice (a 2-factor). So must the left/right picks, using a different pair of the same cube.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1B2433"/>
                </a:solidFill>
                <a:latin typeface="Calibri"/>
              </a:rPr>
              <a:t>So each cube has only </a:t>
            </a:r>
            <a:r>
              <a:rPr sz="1700" b="1" i="0">
                <a:solidFill>
                  <a:srgbClr val="1B2433"/>
                </a:solidFill>
                <a:latin typeface="Calibri"/>
              </a:rPr>
              <a:t>6 choices</a:t>
            </a:r>
            <a:r>
              <a:rPr sz="1700" b="0" i="0">
                <a:solidFill>
                  <a:srgbClr val="1B2433"/>
                </a:solidFill>
                <a:latin typeface="Calibri"/>
              </a:rPr>
              <a:t>: an ordered pair (front/back pair, left/right pair).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1B2433"/>
                </a:solidFill>
                <a:latin typeface="Calibri"/>
              </a:rPr>
              <a:t>6⁴ = 1,296 cases, of which </a:t>
            </a:r>
            <a:r>
              <a:rPr sz="1700" b="1" i="0">
                <a:solidFill>
                  <a:srgbClr val="1B2433"/>
                </a:solidFill>
                <a:latin typeface="Calibri"/>
              </a:rPr>
              <a:t>2</a:t>
            </a:r>
            <a:r>
              <a:rPr sz="1700" b="0" i="0">
                <a:solidFill>
                  <a:srgbClr val="1B2433"/>
                </a:solidFill>
                <a:latin typeface="Calibri"/>
              </a:rPr>
              <a:t> solve it (the tower and its quarter turn).</a:t>
            </a:r>
          </a:p>
          <a:p>
            <a:pPr algn="l">
              <a:spcAft>
                <a:spcPts val="1000"/>
              </a:spcAft>
            </a:pPr>
            <a:r>
              <a:rPr sz="1700" b="0" i="1">
                <a:solidFill>
                  <a:srgbClr val="5B6575"/>
                </a:solidFill>
                <a:latin typeface="Calibri"/>
              </a:rPr>
              <a:t>The general N-cube problem is NP-complete. We do not claim a speedup.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55448" cy="155448"/>
          </a:xfrm>
          <a:prstGeom prst="roundRect">
            <a:avLst/>
          </a:prstGeom>
          <a:solidFill>
            <a:srgbClr val="D6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03504"/>
            <a:ext cx="155448" cy="155448"/>
          </a:xfrm>
          <a:prstGeom prst="roundRect">
            <a:avLst/>
          </a:prstGeom>
          <a:solidFill>
            <a:srgbClr val="2FA9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795528"/>
            <a:ext cx="155448" cy="155448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987552"/>
            <a:ext cx="155448" cy="155448"/>
          </a:xfrm>
          <a:prstGeom prst="roundRect">
            <a:avLst/>
          </a:prstGeom>
          <a:solidFill>
            <a:srgbClr val="E8B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47472"/>
            <a:ext cx="10515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B2433"/>
                </a:solidFill>
                <a:latin typeface="Cambria"/>
              </a:rPr>
              <a:t>Encoding: 6 choices fit in 3 qubits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051560"/>
            <a:ext cx="1051560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B6575"/>
                </a:solidFill>
                <a:latin typeface="Calibri"/>
              </a:rPr>
              <a:t>12 qubits for 4 cubes, half the starter's 24-qubit one-hot encoding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737360"/>
          <a:ext cx="51206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280160"/>
                <a:gridCol w="1280160"/>
                <a:gridCol w="1280160"/>
              </a:tblGrid>
              <a:tr h="52578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code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bits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front/back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left/right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000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010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101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6, 7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11x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unused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433"/>
                          </a:solidFill>
                          <a:latin typeface="Calibri"/>
                        </a:rPr>
                        <a:t>never reached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1737360"/>
            <a:ext cx="5120640" cy="43891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 i="0">
                <a:solidFill>
                  <a:srgbClr val="1B2433"/>
                </a:solidFill>
                <a:latin typeface="Calibri"/>
              </a:rPr>
              <a:t>Same pair twice? </a:t>
            </a:r>
            <a:r>
              <a:rPr sz="1700" b="0" i="0">
                <a:solidFill>
                  <a:srgbClr val="1B2433"/>
                </a:solidFill>
                <a:latin typeface="Calibri"/>
              </a:rPr>
              <a:t>Cannot be written down.</a:t>
            </a:r>
          </a:p>
          <a:p>
            <a:pPr algn="l">
              <a:spcAft>
                <a:spcPts val="1200"/>
              </a:spcAft>
            </a:pPr>
            <a:r>
              <a:rPr sz="1700" b="1" i="0">
                <a:solidFill>
                  <a:srgbClr val="1B2433"/>
                </a:solidFill>
                <a:latin typeface="Calibri"/>
              </a:rPr>
              <a:t>One pick per cube? </a:t>
            </a:r>
            <a:r>
              <a:rPr sz="1700" b="0" i="0">
                <a:solidFill>
                  <a:srgbClr val="1B2433"/>
                </a:solidFill>
                <a:latin typeface="Calibri"/>
              </a:rPr>
              <a:t>Automatic.</a:t>
            </a:r>
          </a:p>
          <a:p>
            <a:pPr algn="l">
              <a:spcAft>
                <a:spcPts val="1200"/>
              </a:spcAft>
            </a:pPr>
            <a:r>
              <a:rPr sz="1700" b="1" i="0">
                <a:solidFill>
                  <a:srgbClr val="1B2433"/>
                </a:solidFill>
                <a:latin typeface="Calibri"/>
              </a:rPr>
              <a:t>Only rule left: </a:t>
            </a:r>
            <a:r>
              <a:rPr sz="1700" b="0" i="0">
                <a:solidFill>
                  <a:srgbClr val="1B2433"/>
                </a:solidFill>
                <a:latin typeface="Calibri"/>
              </a:rPr>
              <a:t>every colour has degree 2 on each side pair.</a:t>
            </a:r>
          </a:p>
          <a:p>
            <a:pPr algn="l">
              <a:spcAft>
                <a:spcPts val="1200"/>
              </a:spcAft>
            </a:pPr>
            <a:r>
              <a:rPr sz="2000" b="1" i="0">
                <a:solidFill>
                  <a:srgbClr val="0E9488"/>
                </a:solidFill>
                <a:latin typeface="Cambria"/>
              </a:rPr>
              <a:t>Cost  C = Σ (d − 2)²</a:t>
            </a:r>
          </a:p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1B2433"/>
                </a:solidFill>
                <a:latin typeface="Calibri"/>
              </a:rPr>
              <a:t>Written with Z operators: “cube c holds code k” is a product of (1 ± Z)/2 on its 3 qubits. Terms touch at most 6 qubits (two cubes). 164 terms at N = 4.</a:t>
            </a:r>
          </a:p>
          <a:p>
            <a:pPr algn="l">
              <a:spcAft>
                <a:spcPts val="1200"/>
              </a:spcAft>
            </a:pPr>
            <a:r>
              <a:rPr sz="1700" b="0" i="1">
                <a:solidFill>
                  <a:srgbClr val="1B2433"/>
                </a:solidFill>
                <a:latin typeface="Calibri"/>
              </a:rPr>
              <a:t>Codes 6 and 7 need no penalty: the circuit never creates them.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55448" cy="155448"/>
          </a:xfrm>
          <a:prstGeom prst="roundRect">
            <a:avLst/>
          </a:prstGeom>
          <a:solidFill>
            <a:srgbClr val="D6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03504"/>
            <a:ext cx="155448" cy="155448"/>
          </a:xfrm>
          <a:prstGeom prst="roundRect">
            <a:avLst/>
          </a:prstGeom>
          <a:solidFill>
            <a:srgbClr val="2FA9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795528"/>
            <a:ext cx="155448" cy="155448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987552"/>
            <a:ext cx="155448" cy="155448"/>
          </a:xfrm>
          <a:prstGeom prst="roundRect">
            <a:avLst/>
          </a:prstGeom>
          <a:solidFill>
            <a:srgbClr val="E8B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47472"/>
            <a:ext cx="10515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B2433"/>
                </a:solidFill>
                <a:latin typeface="Cambria"/>
              </a:rPr>
              <a:t>Algorithm: QAOA that only makes legal moves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051560"/>
            <a:ext cx="1051560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B6575"/>
                </a:solidFill>
                <a:latin typeface="Calibri"/>
              </a:rPr>
              <a:t>Start in all legal choices, then alternate a cost layer and a per-cube mixer, p times</a:t>
            </a:r>
          </a:p>
        </p:txBody>
      </p:sp>
      <p:pic>
        <p:nvPicPr>
          <p:cNvPr id="8" name="Picture 7" descr="circuit_one_cu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6675120" cy="183409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772400" y="1737360"/>
            <a:ext cx="3931920" cy="804672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79" y="1810512"/>
            <a:ext cx="3657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0E9488"/>
                </a:solidFill>
                <a:latin typeface="Calibri"/>
              </a:rPr>
              <a:t>1  Start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B2433"/>
                </a:solidFill>
                <a:latin typeface="Calibri"/>
              </a:rPr>
              <a:t>each cube in an equal mix of its 6 codes (RY, controlled-H, H)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0" y="2651760"/>
            <a:ext cx="3931920" cy="804672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79" y="2724912"/>
            <a:ext cx="3657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0E9488"/>
                </a:solidFill>
                <a:latin typeface="Calibri"/>
              </a:rPr>
              <a:t>2  Cost layer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B2433"/>
                </a:solidFill>
                <a:latin typeface="Calibri"/>
              </a:rPr>
              <a:t>exp(−iγH): each Z string is a CNOT ladder + one RZ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3566160"/>
            <a:ext cx="3931920" cy="804672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79" y="3639312"/>
            <a:ext cx="3657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0E9488"/>
                </a:solidFill>
                <a:latin typeface="Calibri"/>
              </a:rPr>
              <a:t>3  Mixer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B2433"/>
                </a:solidFill>
                <a:latin typeface="Calibri"/>
              </a:rPr>
              <a:t>exp(−iβ|u⟩⟨u|) per cube: any legal choice can become any other, never an illegal one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4480560"/>
            <a:ext cx="3931920" cy="804672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79" y="4553712"/>
            <a:ext cx="3657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0E9488"/>
                </a:solidFill>
                <a:latin typeface="Calibri"/>
              </a:rPr>
              <a:t>4  Tune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B2433"/>
                </a:solidFill>
                <a:latin typeface="Calibri"/>
              </a:rPr>
              <a:t>pick γ, β by minimising the average cost on a simulator, never using the answer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5394960"/>
            <a:ext cx="3931920" cy="804672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79" y="5468112"/>
            <a:ext cx="3657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0E9488"/>
                </a:solidFill>
                <a:latin typeface="Calibri"/>
              </a:rPr>
              <a:t>5  Measure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B2433"/>
                </a:solidFill>
                <a:latin typeface="Calibri"/>
              </a:rPr>
              <a:t>decode every shot and check it with solves()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120640"/>
            <a:ext cx="667512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B6575"/>
                </a:solidFill>
                <a:latin typeface="Calibri"/>
              </a:rPr>
              <a:t>Above: one cube's start state, then one mixer step (undo the start, phase on |000⟩, redo). One full layer at N = 4 is about 550 CNOTs after transpiling to rz, sx, x, cx.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55448" cy="155448"/>
          </a:xfrm>
          <a:prstGeom prst="roundRect">
            <a:avLst/>
          </a:prstGeom>
          <a:solidFill>
            <a:srgbClr val="D6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03504"/>
            <a:ext cx="155448" cy="155448"/>
          </a:xfrm>
          <a:prstGeom prst="roundRect">
            <a:avLst/>
          </a:prstGeom>
          <a:solidFill>
            <a:srgbClr val="2FA9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795528"/>
            <a:ext cx="155448" cy="155448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987552"/>
            <a:ext cx="155448" cy="155448"/>
          </a:xfrm>
          <a:prstGeom prst="roundRect">
            <a:avLst/>
          </a:prstGeom>
          <a:solidFill>
            <a:srgbClr val="E8B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47472"/>
            <a:ext cx="10515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B2433"/>
                </a:solidFill>
                <a:latin typeface="Cambria"/>
              </a:rPr>
              <a:t>Classical checks before any claim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051560"/>
            <a:ext cx="1051560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B6575"/>
                </a:solidFill>
                <a:latin typeface="Calibri"/>
              </a:rPr>
              <a:t>Every check is an assert in the notebook; all pass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5303520" cy="1280160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0120" y="2103120"/>
            <a:ext cx="502920" cy="502920"/>
          </a:xfrm>
          <a:prstGeom prst="ellipse">
            <a:avLst/>
          </a:prstGeom>
          <a:solidFill>
            <a:srgbClr val="0E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874519"/>
            <a:ext cx="416052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B2433"/>
                </a:solidFill>
                <a:latin typeface="Calibri"/>
              </a:rPr>
              <a:t>H = classical cost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5B6575"/>
                </a:solidFill>
                <a:latin typeface="Calibri"/>
              </a:rPr>
              <a:t>N = 4 to 6: every valid state; N = 7, 8: 3,000 random ones. Largest gap 0.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59" y="1737360"/>
            <a:ext cx="5303520" cy="1280160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37959" y="2103120"/>
            <a:ext cx="502920" cy="502920"/>
          </a:xfrm>
          <a:prstGeom prst="ellipse">
            <a:avLst/>
          </a:prstGeom>
          <a:solidFill>
            <a:srgbClr val="0E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79" y="1874519"/>
            <a:ext cx="416052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B2433"/>
                </a:solidFill>
                <a:latin typeface="Calibri"/>
              </a:rPr>
              <a:t>Lowest energy = the answer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5B6575"/>
                </a:solidFill>
                <a:latin typeface="Calibri"/>
              </a:rPr>
              <a:t>exactly 2 zero-cost states = count_answers = graph method; no ties (next cost is 2).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200400"/>
            <a:ext cx="5303520" cy="1280160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120" y="3566160"/>
            <a:ext cx="502920" cy="502920"/>
          </a:xfrm>
          <a:prstGeom prst="ellipse">
            <a:avLst/>
          </a:prstGeom>
          <a:solidFill>
            <a:srgbClr val="0E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3337560"/>
            <a:ext cx="416052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B2433"/>
                </a:solidFill>
                <a:latin typeface="Calibri"/>
              </a:rPr>
              <a:t>Independent cost agrees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5B6575"/>
                </a:solidFill>
                <a:latin typeface="Calibri"/>
              </a:rPr>
              <a:t>the starter's 24-qubit QUBO is zero on the same 2 states.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59" y="3200400"/>
            <a:ext cx="5303520" cy="1280160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37959" y="3566160"/>
            <a:ext cx="502920" cy="502920"/>
          </a:xfrm>
          <a:prstGeom prst="ellipse">
            <a:avLst/>
          </a:prstGeom>
          <a:solidFill>
            <a:srgbClr val="0E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79" y="3337560"/>
            <a:ext cx="416052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B2433"/>
                </a:solidFill>
                <a:latin typeface="Calibri"/>
              </a:rPr>
              <a:t>Circuit stays legal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5B6575"/>
                </a:solidFill>
                <a:latin typeface="Calibri"/>
              </a:rPr>
              <a:t>start state is 1/6 on each valid code; leakage to codes 6, 7 is 2e-15; 0 invalid shots.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663440"/>
            <a:ext cx="5303520" cy="1280160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60120" y="5029200"/>
            <a:ext cx="502920" cy="502920"/>
          </a:xfrm>
          <a:prstGeom prst="ellipse">
            <a:avLst/>
          </a:prstGeom>
          <a:solidFill>
            <a:srgbClr val="0E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91640" y="4800600"/>
            <a:ext cx="416052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B2433"/>
                </a:solidFill>
                <a:latin typeface="Calibri"/>
              </a:rPr>
              <a:t>Fast simulator = Qiskit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5B6575"/>
                </a:solidFill>
                <a:latin typeface="Calibri"/>
              </a:rPr>
              <a:t>our 6^N simulator matches Statevector of the real circuit to 3e-17.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59" y="4663440"/>
            <a:ext cx="5303520" cy="1280160"/>
          </a:xfrm>
          <a:prstGeom prst="roundRect">
            <a:avLst>
              <a:gd name="adj" fmla="val 6000"/>
            </a:avLst>
          </a:prstGeom>
          <a:solidFill>
            <a:srgbClr val="E8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37959" y="5029200"/>
            <a:ext cx="502920" cy="502920"/>
          </a:xfrm>
          <a:prstGeom prst="ellipse">
            <a:avLst/>
          </a:prstGeom>
          <a:solidFill>
            <a:srgbClr val="0E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69479" y="4800600"/>
            <a:ext cx="416052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B2433"/>
                </a:solidFill>
                <a:latin typeface="Calibri"/>
              </a:rPr>
              <a:t>Every tower checked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5B6575"/>
                </a:solidFill>
                <a:latin typeface="Calibri"/>
              </a:rPr>
              <a:t>each measured shot is decoded (qubit 0 = rightmost bit) and passed to solves().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55448" cy="155448"/>
          </a:xfrm>
          <a:prstGeom prst="roundRect">
            <a:avLst/>
          </a:prstGeom>
          <a:solidFill>
            <a:srgbClr val="D6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03504"/>
            <a:ext cx="155448" cy="155448"/>
          </a:xfrm>
          <a:prstGeom prst="roundRect">
            <a:avLst/>
          </a:prstGeom>
          <a:solidFill>
            <a:srgbClr val="2FA9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795528"/>
            <a:ext cx="155448" cy="155448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987552"/>
            <a:ext cx="155448" cy="155448"/>
          </a:xfrm>
          <a:prstGeom prst="roundRect">
            <a:avLst/>
          </a:prstGeom>
          <a:solidFill>
            <a:srgbClr val="E8B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47472"/>
            <a:ext cx="10515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B2433"/>
                </a:solidFill>
                <a:latin typeface="Cambria"/>
              </a:rPr>
              <a:t>Four cubes: 73% of shots are the solved tower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051560"/>
            <a:ext cx="1051560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B6575"/>
                </a:solidFill>
                <a:latin typeface="Calibri"/>
              </a:rPr>
              <a:t>Constrained QAOA, 12 qubits, 1000 shots per circuit; random legal guess = 0.15%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45920"/>
          <a:ext cx="676656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0" y="1737360"/>
          <a:ext cx="39319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6384"/>
                <a:gridCol w="786384"/>
                <a:gridCol w="786384"/>
                <a:gridCol w="786384"/>
                <a:gridCol w="786384"/>
              </a:tblGrid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CX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depth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SV1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exact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550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522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1.7%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1.1%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2,188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2,040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8.7%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8.8%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4,372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4,064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6,556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6,088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73%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73%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772400" y="4343400"/>
            <a:ext cx="3931920" cy="1828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1B2433"/>
                </a:solidFill>
                <a:latin typeface="Calibri"/>
              </a:rPr>
              <a:t>Device: </a:t>
            </a:r>
            <a:r>
              <a:rPr sz="1400" b="0" i="0">
                <a:solidFill>
                  <a:srgbClr val="1B2433"/>
                </a:solidFill>
                <a:latin typeface="Calibri"/>
              </a:rPr>
              <a:t>aws:aws:sim:sv1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B2433"/>
                </a:solidFill>
                <a:latin typeface="Calibri"/>
              </a:rPr>
              <a:t>Measured at p = 12: about 475× a random legal guess. </a:t>
            </a:r>
            <a:r>
              <a:rPr sz="1400" b="0" i="0">
                <a:solidFill>
                  <a:srgbClr val="1B2433"/>
                </a:solidFill>
                <a:latin typeface="Calibri"/>
              </a:rPr>
              <a:t>Measured shots match the exact value within shot noise.</a:t>
            </a:r>
          </a:p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1B2433"/>
                </a:solidFill>
                <a:latin typeface="Calibri"/>
              </a:rPr>
              <a:t>Warm-up (front/back only, starter): </a:t>
            </a:r>
            <a:r>
              <a:rPr sz="1400" b="0" i="0">
                <a:solidFill>
                  <a:srgbClr val="1B2433"/>
                </a:solidFill>
                <a:latin typeface="Calibri"/>
              </a:rPr>
              <a:t>31% good picks at p = 2.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11480"/>
            <a:ext cx="155448" cy="155448"/>
          </a:xfrm>
          <a:prstGeom prst="roundRect">
            <a:avLst/>
          </a:prstGeom>
          <a:solidFill>
            <a:srgbClr val="D6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603504"/>
            <a:ext cx="155448" cy="155448"/>
          </a:xfrm>
          <a:prstGeom prst="roundRect">
            <a:avLst/>
          </a:prstGeom>
          <a:solidFill>
            <a:srgbClr val="2FA9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795528"/>
            <a:ext cx="155448" cy="155448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987552"/>
            <a:ext cx="155448" cy="155448"/>
          </a:xfrm>
          <a:prstGeom prst="roundRect">
            <a:avLst/>
          </a:prstGeom>
          <a:solidFill>
            <a:srgbClr val="E8B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47472"/>
            <a:ext cx="1051560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B2433"/>
                </a:solidFill>
                <a:latin typeface="Cambria"/>
              </a:rPr>
              <a:t>Bonus: same method for N cubes and N colours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051560"/>
            <a:ext cx="1051560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B6575"/>
                </a:solidFill>
                <a:latin typeface="Calibri"/>
              </a:rPr>
              <a:t>make_puzzle seeds {5: 16, 6: 86, 7: 68, 8: 4}, each with exactly one tower; depth fixed at p = 10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45920"/>
          <a:ext cx="603504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040880" y="1737360"/>
          <a:ext cx="46634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777240"/>
                <a:gridCol w="777240"/>
                <a:gridCol w="777240"/>
                <a:gridCol w="777240"/>
                <a:gridCol w="77724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qubits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CX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exact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SV1 shots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× random</a:t>
                      </a:r>
                    </a:p>
                  </a:txBody>
                  <a:tcPr>
                    <a:solidFill>
                      <a:srgbClr val="0E94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5,464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58%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59%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375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9,285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9.1%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9.5%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354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13,446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9.5%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9.4%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2,206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16,627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3.5%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4,877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21,128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4.3%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3.3%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3"/>
                          </a:solidFill>
                          <a:latin typeface="Calibri"/>
                        </a:rPr>
                        <a:t>36,057</a:t>
                      </a:r>
                    </a:p>
                  </a:txBody>
                  <a:tcPr>
                    <a:solidFill>
                      <a:srgbClr val="E8F4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040880" y="4709160"/>
            <a:ext cx="4663440" cy="1554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B2433"/>
                </a:solidFill>
                <a:latin typeface="Calibri"/>
              </a:rPr>
              <a:t>Qubits grow as 3N; CNOTs per layer grow about linearly here (550 → 2,100).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B2433"/>
                </a:solidFill>
                <a:latin typeface="Calibri"/>
              </a:rPr>
              <a:t>At fixed depth success falls with N, but more slowly than random guessing: the advantage over guessing grows. Keeping success high would need more layers.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0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640080"/>
            <a:ext cx="182880" cy="182880"/>
          </a:xfrm>
          <a:prstGeom prst="roundRect">
            <a:avLst/>
          </a:prstGeom>
          <a:solidFill>
            <a:srgbClr val="D64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859536"/>
            <a:ext cx="182880" cy="182880"/>
          </a:xfrm>
          <a:prstGeom prst="roundRect">
            <a:avLst/>
          </a:prstGeom>
          <a:solidFill>
            <a:srgbClr val="2FA9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078992"/>
            <a:ext cx="182880" cy="18288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182880" cy="182880"/>
          </a:xfrm>
          <a:prstGeom prst="roundRect">
            <a:avLst/>
          </a:prstGeom>
          <a:solidFill>
            <a:srgbClr val="E8B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502920"/>
            <a:ext cx="10058400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What we learned, and what we'd try 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5120640" cy="4572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200" b="1" i="0">
                <a:solidFill>
                  <a:srgbClr val="5FD4C8"/>
                </a:solidFill>
                <a:latin typeface="Cambria"/>
              </a:rPr>
              <a:t>Learned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C9D3DA"/>
                </a:solidFill>
                <a:latin typeface="Calibri"/>
              </a:rPr>
              <a:t>Building the rules into the encoding (3 qubits per cube) beat penalty terms: fewer qubits, nothing to tune, no wasted shots.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C9D3DA"/>
                </a:solidFill>
                <a:latin typeface="Calibri"/>
              </a:rPr>
              <a:t>QAOA really concentrates probability on the answer, and checks show it is the right answer.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C9D3DA"/>
                </a:solidFill>
                <a:latin typeface="Calibri"/>
              </a:rPr>
              <a:t>No speedup: brute force takes 0.14 s, and tuning needed a full classical simulation.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C9D3DA"/>
                </a:solidFill>
                <a:latin typeface="Calibri"/>
              </a:rPr>
              <a:t>Success at fixed depth falls with N; gates grow with 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120640" cy="4572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200" b="1" i="0">
                <a:solidFill>
                  <a:srgbClr val="F0B070"/>
                </a:solidFill>
                <a:latin typeface="Cambria"/>
              </a:rPr>
              <a:t>Next step</a:t>
            </a:r>
          </a:p>
          <a:p>
            <a:pPr algn="l">
              <a:spcAft>
                <a:spcPts val="12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Measure how many layers keep success at 50% as N grows, </a:t>
            </a:r>
            <a:r>
              <a:rPr sz="1600" b="0" i="0">
                <a:solidFill>
                  <a:srgbClr val="C9D3DA"/>
                </a:solidFill>
                <a:latin typeface="Calibri"/>
              </a:rPr>
              <a:t>using a CVaR objective and angles transferred from smaller N.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C9D3DA"/>
                </a:solidFill>
                <a:latin typeface="Calibri"/>
              </a:rPr>
              <a:t>Also: reorder cost terms to cancel CNOTs; a Grover search with a reversible degree-counting oracle; one shallow run on real hardware next to SV1.</a:t>
            </a:r>
          </a:p>
          <a:p>
            <a:pPr algn="l">
              <a:spcAft>
                <a:spcPts val="1200"/>
              </a:spcAft>
            </a:pPr>
            <a:r>
              <a:rPr sz="1600" b="0" i="1">
                <a:solidFill>
                  <a:srgbClr val="C9D3DA"/>
                </a:solidFill>
                <a:latin typeface="Calibri"/>
              </a:rPr>
              <a:t>AI use: Claude Code wrote code and docs; every model was checked against brute force.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